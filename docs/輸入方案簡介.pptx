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56" r:id="rId2"/>
    <p:sldId id="266" r:id="rId3"/>
    <p:sldId id="265" r:id="rId4"/>
    <p:sldId id="257" r:id="rId5"/>
    <p:sldId id="258" r:id="rId6"/>
    <p:sldId id="259" r:id="rId7"/>
    <p:sldId id="260" r:id="rId8"/>
    <p:sldId id="263" r:id="rId9"/>
    <p:sldId id="264" r:id="rId10"/>
    <p:sldId id="261" r:id="rId11"/>
    <p:sldId id="262" r:id="rId12"/>
    <p:sldId id="267" r:id="rId13"/>
    <p:sldId id="271" r:id="rId14"/>
    <p:sldId id="272" r:id="rId15"/>
    <p:sldId id="273" r:id="rId16"/>
    <p:sldId id="274" r:id="rId17"/>
    <p:sldId id="269" r:id="rId18"/>
    <p:sldId id="270" r:id="rId19"/>
    <p:sldId id="268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3D213-2486-4699-9ABE-6B78386DE8ED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09B61-76A2-42A0-9F9F-AE23C29A89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37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09B61-76A2-42A0-9F9F-AE23C29A89A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67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92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80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18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939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91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37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783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07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94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89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866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1005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4337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398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33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76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3D808-1EEE-40DA-BADD-93EC0F863E5C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872442D-B9A1-4449-B566-05A994F045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5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45243E-67A1-06D2-1497-C06AB0B04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0613" y="1613669"/>
            <a:ext cx="7852891" cy="2387918"/>
          </a:xfrm>
        </p:spPr>
        <p:txBody>
          <a:bodyPr anchor="b">
            <a:normAutofit/>
          </a:bodyPr>
          <a:lstStyle/>
          <a:p>
            <a:pPr algn="ctr"/>
            <a:r>
              <a:rPr lang="en-US" altLang="zh-TW" sz="4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RIME-TLPA</a:t>
            </a:r>
            <a:br>
              <a:rPr lang="en-US" altLang="zh-TW" sz="4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</a:br>
            <a:r>
              <a:rPr lang="zh-TW" altLang="en-US" sz="4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閩南話漢字輸入法簡介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701554-0DAB-631C-969D-50AFC344C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2"/>
                </a:solidFill>
              </a:rPr>
              <a:t>V0.1</a:t>
            </a:r>
            <a:endParaRPr lang="zh-TW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0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A9568-31AB-2131-D6AD-A5CC67C8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RIME-TLPA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輸入方案清單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33F32D-1B0B-AD7D-667E-E25B5D3B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6509"/>
            <a:ext cx="9732048" cy="4682836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0070C0"/>
                </a:solidFill>
              </a:rPr>
              <a:t>反切輸入法</a:t>
            </a:r>
            <a:r>
              <a:rPr lang="en-US" altLang="zh-TW" dirty="0">
                <a:solidFill>
                  <a:srgbClr val="0070C0"/>
                </a:solidFill>
              </a:rPr>
              <a:t>【</a:t>
            </a:r>
            <a:r>
              <a:rPr lang="zh-TW" altLang="en-US" dirty="0">
                <a:solidFill>
                  <a:srgbClr val="0070C0"/>
                </a:solidFill>
              </a:rPr>
              <a:t>台語音標</a:t>
            </a:r>
            <a:r>
              <a:rPr lang="en-US" altLang="zh-TW" dirty="0">
                <a:solidFill>
                  <a:srgbClr val="0070C0"/>
                </a:solidFill>
              </a:rPr>
              <a:t>】</a:t>
            </a:r>
            <a:r>
              <a:rPr lang="zh-TW" altLang="en-US" dirty="0">
                <a:solidFill>
                  <a:srgbClr val="0070C0"/>
                </a:solidFill>
              </a:rPr>
              <a:t>：十五音</a:t>
            </a:r>
          </a:p>
          <a:p>
            <a:r>
              <a:rPr lang="zh-TW" altLang="en-US" dirty="0">
                <a:solidFill>
                  <a:srgbClr val="0070C0"/>
                </a:solidFill>
              </a:rPr>
              <a:t>反切輸入法</a:t>
            </a:r>
            <a:r>
              <a:rPr lang="en-US" altLang="zh-TW" dirty="0">
                <a:solidFill>
                  <a:srgbClr val="0070C0"/>
                </a:solidFill>
              </a:rPr>
              <a:t>【</a:t>
            </a:r>
            <a:r>
              <a:rPr lang="zh-TW" altLang="en-US" dirty="0">
                <a:solidFill>
                  <a:srgbClr val="0070C0"/>
                </a:solidFill>
              </a:rPr>
              <a:t>方音符號</a:t>
            </a:r>
            <a:r>
              <a:rPr lang="en-US" altLang="zh-TW" dirty="0">
                <a:solidFill>
                  <a:srgbClr val="0070C0"/>
                </a:solidFill>
              </a:rPr>
              <a:t>】</a:t>
            </a:r>
            <a:r>
              <a:rPr lang="zh-TW" altLang="en-US" dirty="0">
                <a:solidFill>
                  <a:srgbClr val="0070C0"/>
                </a:solidFill>
              </a:rPr>
              <a:t>：十五音</a:t>
            </a:r>
          </a:p>
          <a:p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注音輸入法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方音符號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：方音符號</a:t>
            </a:r>
          </a:p>
          <a:p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注音輸入法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台語注音二式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：方音符號</a:t>
            </a:r>
          </a:p>
          <a:p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注音輸入法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台語注音符號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：台語注音符號（台語音標使用的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注音符號</a:t>
            </a:r>
            <a:r>
              <a:rPr lang="en-US" altLang="zh-TW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）</a:t>
            </a:r>
          </a:p>
          <a:p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拼音輸入法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台語音標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：台語音標</a:t>
            </a:r>
          </a:p>
          <a:p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拼音輸入法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台羅拼音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：台羅拼音</a:t>
            </a:r>
          </a:p>
          <a:p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拼音輸入法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白話字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：白話字</a:t>
            </a:r>
            <a:endParaRPr lang="en-US" altLang="zh-TW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拼音輸入法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閩拼方案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：閩拼方案</a:t>
            </a:r>
            <a:endParaRPr lang="en-US" altLang="zh-TW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拼音輸入法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【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台語注音二式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</a:rPr>
              <a:t>】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：台語注音二式</a:t>
            </a:r>
            <a:endParaRPr lang="en-US" altLang="zh-TW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857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F81E00A-DE24-6998-F2ED-760CCBED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9678988" cy="29146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6000" dirty="0">
                <a:solidFill>
                  <a:schemeClr val="tx2"/>
                </a:solidFill>
                <a:latin typeface="Cascadia Code" panose="020B0609020000020004" pitchFamily="49" charset="0"/>
                <a:ea typeface="Noto Serif TC Black" panose="02020200000000000000" pitchFamily="18" charset="-128"/>
              </a:rPr>
              <a:t>反切類輸入方案</a:t>
            </a:r>
            <a:endParaRPr lang="en-US" altLang="zh-TW" sz="6000" dirty="0">
              <a:solidFill>
                <a:schemeClr val="tx2"/>
              </a:solidFill>
              <a:latin typeface="Cascadia Code" panose="020B0609020000020004" pitchFamily="49" charset="0"/>
              <a:ea typeface="Noto Serif TC Black" panose="02020200000000000000" pitchFamily="18" charset="-128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336DF8-AEE0-9091-84CF-259B36CD669B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84212" y="3933823"/>
            <a:ext cx="7005742" cy="11430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反切輸入法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台語音標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：十五音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反切輸入法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方音符號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：十五音</a:t>
            </a:r>
          </a:p>
        </p:txBody>
      </p:sp>
    </p:spTree>
    <p:extLst>
      <p:ext uri="{BB962C8B-B14F-4D97-AF65-F5344CB8AC3E}">
        <p14:creationId xmlns:p14="http://schemas.microsoft.com/office/powerpoint/2010/main" val="311598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3681014-C06E-D2F4-994D-DB470E76A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834" y="643467"/>
            <a:ext cx="5974331" cy="5571065"/>
          </a:xfrm>
          <a:prstGeom prst="rect">
            <a:avLst/>
          </a:prstGeom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C7D4B46-58A3-A4BE-B58D-9B5299635770}"/>
              </a:ext>
            </a:extLst>
          </p:cNvPr>
          <p:cNvSpPr txBox="1"/>
          <p:nvPr/>
        </p:nvSpPr>
        <p:spPr>
          <a:xfrm>
            <a:off x="1227309" y="1567832"/>
            <a:ext cx="800219" cy="41852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聲母</a:t>
            </a:r>
            <a:r>
              <a:rPr lang="en-US" altLang="zh-TW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endParaRPr lang="zh-TW" altLang="en-US" sz="4000" dirty="0">
              <a:solidFill>
                <a:srgbClr val="FF0000"/>
              </a:solidFill>
              <a:latin typeface="霞鶩文楷 TC Medium" panose="02020600000000000000" pitchFamily="18" charset="-120"/>
              <a:ea typeface="霞鶩文楷 TC Medium" panose="02020600000000000000" pitchFamily="18" charset="-120"/>
              <a:cs typeface="霞鶩文楷 TC Medium" panose="020206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057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AB0173-E603-420D-C4F9-40399121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22" y="643467"/>
            <a:ext cx="8376695" cy="5571065"/>
          </a:xfrm>
          <a:prstGeom prst="rect">
            <a:avLst/>
          </a:prstGeom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41D7367-7C4A-DF33-82C7-9451F3568A3A}"/>
              </a:ext>
            </a:extLst>
          </p:cNvPr>
          <p:cNvSpPr txBox="1"/>
          <p:nvPr/>
        </p:nvSpPr>
        <p:spPr>
          <a:xfrm>
            <a:off x="396034" y="1567832"/>
            <a:ext cx="800219" cy="41852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40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endParaRPr lang="zh-TW" altLang="en-US" sz="4000" dirty="0">
              <a:solidFill>
                <a:srgbClr val="FF0000"/>
              </a:solidFill>
              <a:latin typeface="霞鶩文楷 TC Medium" panose="02020600000000000000" pitchFamily="18" charset="-120"/>
              <a:ea typeface="霞鶩文楷 TC Medium" panose="02020600000000000000" pitchFamily="18" charset="-120"/>
              <a:cs typeface="霞鶩文楷 TC Medium" panose="020206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14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C0F1E15-68F2-214A-42BB-5F76E2649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59" y="957839"/>
            <a:ext cx="10915650" cy="551497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4A90A0B-2CEA-9B7A-D174-E5BAD09C88D6}"/>
              </a:ext>
            </a:extLst>
          </p:cNvPr>
          <p:cNvSpPr txBox="1"/>
          <p:nvPr/>
        </p:nvSpPr>
        <p:spPr>
          <a:xfrm>
            <a:off x="167126" y="237796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聲母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294608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A9064A5-32BF-FE2C-EA63-0EC3AE0B1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81" y="643467"/>
            <a:ext cx="7110438" cy="5571065"/>
          </a:xfrm>
          <a:prstGeom prst="rect">
            <a:avLst/>
          </a:prstGeom>
          <a:ln>
            <a:noFill/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306C64B-A375-C909-EE40-334EBA3E5868}"/>
              </a:ext>
            </a:extLst>
          </p:cNvPr>
          <p:cNvSpPr txBox="1"/>
          <p:nvPr/>
        </p:nvSpPr>
        <p:spPr>
          <a:xfrm>
            <a:off x="638175" y="84451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187854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BE366-E5C7-8578-CF0B-E606E3F2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FF66F5E-27B9-9BD9-FFFE-B53B45B8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81" y="643467"/>
            <a:ext cx="7110438" cy="5571065"/>
          </a:xfrm>
          <a:prstGeom prst="rect">
            <a:avLst/>
          </a:prstGeom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EFD3898-6DC0-3AE7-21D9-DE1EE1C33A00}"/>
              </a:ext>
            </a:extLst>
          </p:cNvPr>
          <p:cNvSpPr txBox="1"/>
          <p:nvPr/>
        </p:nvSpPr>
        <p:spPr>
          <a:xfrm>
            <a:off x="638175" y="84451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204320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F6CEB-6CFD-15FE-8D33-B73FD59F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8F629B-7E71-078E-B232-0C512728D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81" y="643467"/>
            <a:ext cx="7110438" cy="5571065"/>
          </a:xfrm>
          <a:prstGeom prst="rect">
            <a:avLst/>
          </a:prstGeom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241CA5D-5740-1264-DF1E-58BBC69F332D}"/>
              </a:ext>
            </a:extLst>
          </p:cNvPr>
          <p:cNvSpPr txBox="1"/>
          <p:nvPr/>
        </p:nvSpPr>
        <p:spPr>
          <a:xfrm>
            <a:off x="638175" y="84451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102185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F2D468D-EF1E-86D2-27E9-5058725DF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81" y="643467"/>
            <a:ext cx="7110438" cy="5571065"/>
          </a:xfrm>
          <a:prstGeom prst="rect">
            <a:avLst/>
          </a:prstGeom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80782E4-82E0-C7D6-08B3-7777274CAC1A}"/>
              </a:ext>
            </a:extLst>
          </p:cNvPr>
          <p:cNvSpPr txBox="1"/>
          <p:nvPr/>
        </p:nvSpPr>
        <p:spPr>
          <a:xfrm>
            <a:off x="638175" y="84451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126144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723C0-BD4D-C58C-D92D-C142C37C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14DCF87-8D42-89E0-64D4-41887F87F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81" y="643467"/>
            <a:ext cx="7110438" cy="5571065"/>
          </a:xfrm>
          <a:prstGeom prst="rect">
            <a:avLst/>
          </a:prstGeom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7F9D12-F71F-FB03-72C0-FC7764450BD9}"/>
              </a:ext>
            </a:extLst>
          </p:cNvPr>
          <p:cNvSpPr txBox="1"/>
          <p:nvPr/>
        </p:nvSpPr>
        <p:spPr>
          <a:xfrm>
            <a:off x="638175" y="84451"/>
            <a:ext cx="1091565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【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韻母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】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十五音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台語音標</a:t>
            </a:r>
            <a:r>
              <a:rPr lang="en-US" altLang="zh-TW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/</a:t>
            </a:r>
            <a:r>
              <a:rPr lang="zh-TW" altLang="en-US" sz="2800" dirty="0">
                <a:solidFill>
                  <a:srgbClr val="FF0000"/>
                </a:solidFill>
                <a:latin typeface="霞鶩文楷 TC Medium" panose="02020600000000000000" pitchFamily="18" charset="-120"/>
                <a:ea typeface="霞鶩文楷 TC Medium" panose="02020600000000000000" pitchFamily="18" charset="-120"/>
                <a:cs typeface="霞鶩文楷 TC Medium" panose="02020600000000000000" pitchFamily="18" charset="-120"/>
              </a:rPr>
              <a:t>方音符號對照</a:t>
            </a:r>
          </a:p>
        </p:txBody>
      </p:sp>
    </p:spTree>
    <p:extLst>
      <p:ext uri="{BB962C8B-B14F-4D97-AF65-F5344CB8AC3E}">
        <p14:creationId xmlns:p14="http://schemas.microsoft.com/office/powerpoint/2010/main" val="85597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8139-727C-D99F-B388-F2B6EF36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9DC943A-EA99-B35F-874D-21DEF3E7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9678988" cy="29146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6000" dirty="0">
                <a:solidFill>
                  <a:schemeClr val="tx2"/>
                </a:solidFill>
                <a:latin typeface="Cascadia Code" panose="020B0609020000020004" pitchFamily="49" charset="0"/>
                <a:ea typeface="Noto Serif TC Black" panose="02020200000000000000" pitchFamily="18" charset="-128"/>
              </a:rPr>
              <a:t>注音類輸入方案</a:t>
            </a:r>
            <a:endParaRPr lang="en-US" altLang="zh-TW" sz="6000" dirty="0">
              <a:solidFill>
                <a:schemeClr val="tx2"/>
              </a:solidFill>
              <a:latin typeface="Cascadia Code" panose="020B0609020000020004" pitchFamily="49" charset="0"/>
              <a:ea typeface="Noto Serif TC Black" panose="02020200000000000000" pitchFamily="18" charset="-128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0C03C6-9325-B5DA-B63B-0F2C87D58D3B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84211" y="3933823"/>
            <a:ext cx="11082915" cy="2374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注音輸入法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方音符號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：方音符號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注音輸入法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台語注音二式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：方音符號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注音輸入法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台語注音符號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：台語注音符號（台語音標使用的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注音符號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0323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B57E-5907-5177-C5CD-6144A148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DAC2F939-6C43-280B-1E1C-DA134A0C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790575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方音符號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聲母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D8C3125-0919-64AA-EF13-41DEED839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62133"/>
            <a:ext cx="8285078" cy="433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97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5639-33FB-6D46-8D95-49B4F6D8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02F326BD-D11F-4E9E-BD94-C795233A7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790575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方音符號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韻母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FE3C912-0F4A-28D2-AA82-A71D38DE7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24174"/>
            <a:ext cx="9989456" cy="281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2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0AF1-9157-1874-4F0F-EAFDD011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2EAA2B9A-9AB1-34DB-8059-62A83946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790575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方音符號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音調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18E40C4-A5BE-E0ED-9FF7-D514D1F8B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619232"/>
            <a:ext cx="7666332" cy="23097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783E1D0-65D5-B06F-0D8B-7B8D4E0D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4376617"/>
            <a:ext cx="3698721" cy="19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2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EDDA-DE43-EE49-6769-36962A6D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17A980E5-C2AC-7D8B-39D0-BD4794EF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4" y="335514"/>
            <a:ext cx="11200630" cy="790575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注音符號對照：國際音標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方音符號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台語注音符號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AFD6F26-6B51-0351-D9AE-6461D21CC390}"/>
              </a:ext>
            </a:extLst>
          </p:cNvPr>
          <p:cNvSpPr txBox="1"/>
          <p:nvPr/>
        </p:nvSpPr>
        <p:spPr>
          <a:xfrm>
            <a:off x="104774" y="4132346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韻母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80CE75-D254-B4E1-46C9-DF9AE7061091}"/>
              </a:ext>
            </a:extLst>
          </p:cNvPr>
          <p:cNvSpPr txBox="1"/>
          <p:nvPr/>
        </p:nvSpPr>
        <p:spPr>
          <a:xfrm>
            <a:off x="104774" y="132461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聲母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98E2574-B5CC-A05C-45B9-8D11D39F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4501678"/>
            <a:ext cx="11920971" cy="193357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E21D5102-5F73-4F4F-7588-7A2994CB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4" y="1693943"/>
            <a:ext cx="11948681" cy="200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0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2F27A697-BDA5-AA1A-C1C2-0C06FFCF6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481"/>
            <a:ext cx="12192000" cy="3989037"/>
          </a:xfrm>
          <a:prstGeom prst="rect">
            <a:avLst/>
          </a:prstGeom>
        </p:spPr>
      </p:pic>
      <p:sp>
        <p:nvSpPr>
          <p:cNvPr id="9" name="標題 8">
            <a:extLst>
              <a:ext uri="{FF2B5EF4-FFF2-40B4-BE49-F238E27FC236}">
                <a16:creationId xmlns:a16="http://schemas.microsoft.com/office/drawing/2014/main" id="{7516ABC1-7065-E95E-5780-012B46F3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790575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方音符號鍵盤</a:t>
            </a:r>
          </a:p>
        </p:txBody>
      </p:sp>
    </p:spTree>
    <p:extLst>
      <p:ext uri="{BB962C8B-B14F-4D97-AF65-F5344CB8AC3E}">
        <p14:creationId xmlns:p14="http://schemas.microsoft.com/office/powerpoint/2010/main" val="3168420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42DC47-F4A5-1513-13EC-52639B22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794327"/>
            <a:ext cx="846666" cy="5209309"/>
          </a:xfrm>
        </p:spPr>
        <p:txBody>
          <a:bodyPr vert="eaVert"/>
          <a:lstStyle/>
          <a:p>
            <a:pPr algn="dist"/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可輸出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漢字標音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372F87-4161-E079-EB96-1CEB1732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922" y="0"/>
            <a:ext cx="5416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53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DEE-9D4B-1EC0-041F-22E744FD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1BAA32C-F7B2-A6A8-F6D0-2B6B8EBB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9678988" cy="29146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6000" dirty="0">
                <a:solidFill>
                  <a:schemeClr val="tx2"/>
                </a:solidFill>
                <a:latin typeface="Cascadia Code" panose="020B0609020000020004" pitchFamily="49" charset="0"/>
                <a:ea typeface="Noto Serif TC Black" panose="02020200000000000000" pitchFamily="18" charset="-128"/>
              </a:rPr>
              <a:t>拼音類輸入方案</a:t>
            </a:r>
            <a:endParaRPr lang="en-US" altLang="zh-TW" sz="6000" dirty="0">
              <a:solidFill>
                <a:schemeClr val="tx2"/>
              </a:solidFill>
              <a:latin typeface="Cascadia Code" panose="020B0609020000020004" pitchFamily="49" charset="0"/>
              <a:ea typeface="Noto Serif TC Black" panose="02020200000000000000" pitchFamily="18" charset="-128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1B2E74-25B8-84C7-1E42-6BDAF7C083FF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84211" y="3933823"/>
            <a:ext cx="10759643" cy="27533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拼音輸入法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台語音標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：台語音標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拼音輸入法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台羅拼音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：台羅拼音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拼音輸入法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白話字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：白話字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拼音輸入法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閩拼方案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：閩拼方案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拼音輸入法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台語注音二式</a:t>
            </a:r>
            <a:r>
              <a:rPr lang="en-US" altLang="zh-TW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TW" altLang="en-US" sz="2400" b="1" kern="1200" cap="none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ea typeface="+mn-ea"/>
                <a:cs typeface="+mn-cs"/>
              </a:rPr>
              <a:t>：台語注音二式</a:t>
            </a:r>
          </a:p>
        </p:txBody>
      </p:sp>
    </p:spTree>
    <p:extLst>
      <p:ext uri="{BB962C8B-B14F-4D97-AF65-F5344CB8AC3E}">
        <p14:creationId xmlns:p14="http://schemas.microsoft.com/office/powerpoint/2010/main" val="76227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77CB849-26B4-4754-F7A4-E8538EDB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609600"/>
            <a:ext cx="9140652" cy="590550"/>
          </a:xfrm>
        </p:spPr>
        <p:txBody>
          <a:bodyPr>
            <a:normAutofit fontScale="90000"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漢字拼音輸出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35BB16F-29E0-E6F7-3F16-779E8C3BA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756717"/>
            <a:ext cx="11925300" cy="423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04999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756</TotalTime>
  <Words>360</Words>
  <Application>Microsoft Office PowerPoint</Application>
  <PresentationFormat>寬螢幕</PresentationFormat>
  <Paragraphs>44</Paragraphs>
  <Slides>20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Noto Serif TC Black</vt:lpstr>
      <vt:lpstr>霞鶩文楷 TC Medium</vt:lpstr>
      <vt:lpstr>Aptos</vt:lpstr>
      <vt:lpstr>Arial</vt:lpstr>
      <vt:lpstr>Cascadia Code</vt:lpstr>
      <vt:lpstr>Trebuchet MS</vt:lpstr>
      <vt:lpstr>Wingdings 3</vt:lpstr>
      <vt:lpstr>多面向</vt:lpstr>
      <vt:lpstr>RIME-TLPA 閩南話漢字輸入法簡介</vt:lpstr>
      <vt:lpstr>RIME-TLPA輸入方案清單</vt:lpstr>
      <vt:lpstr>反切類輸入方案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注音類輸入方案</vt:lpstr>
      <vt:lpstr>方音符號 – 聲母</vt:lpstr>
      <vt:lpstr>方音符號 – 韻母</vt:lpstr>
      <vt:lpstr>方音符號 – 音調</vt:lpstr>
      <vt:lpstr>注音符號對照：國際音標/方音符號/台語注音符號</vt:lpstr>
      <vt:lpstr>方音符號鍵盤</vt:lpstr>
      <vt:lpstr>可輸出【漢字標音】</vt:lpstr>
      <vt:lpstr>拼音類輸入方案</vt:lpstr>
      <vt:lpstr>漢字拼音輸出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11</cp:revision>
  <dcterms:created xsi:type="dcterms:W3CDTF">2026-06-23T13:46:32Z</dcterms:created>
  <dcterms:modified xsi:type="dcterms:W3CDTF">2026-06-26T15:04:18Z</dcterms:modified>
</cp:coreProperties>
</file>