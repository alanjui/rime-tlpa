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306" r:id="rId2"/>
    <p:sldId id="369" r:id="rId3"/>
    <p:sldId id="358" r:id="rId4"/>
    <p:sldId id="359" r:id="rId5"/>
    <p:sldId id="357" r:id="rId6"/>
    <p:sldId id="390" r:id="rId7"/>
    <p:sldId id="388" r:id="rId8"/>
    <p:sldId id="396" r:id="rId9"/>
    <p:sldId id="392" r:id="rId10"/>
    <p:sldId id="363" r:id="rId11"/>
    <p:sldId id="364" r:id="rId12"/>
    <p:sldId id="362" r:id="rId13"/>
    <p:sldId id="395" r:id="rId14"/>
    <p:sldId id="394" r:id="rId15"/>
    <p:sldId id="373" r:id="rId16"/>
    <p:sldId id="375" r:id="rId17"/>
    <p:sldId id="372" r:id="rId18"/>
    <p:sldId id="386" r:id="rId19"/>
    <p:sldId id="391" r:id="rId20"/>
    <p:sldId id="360" r:id="rId21"/>
    <p:sldId id="366" r:id="rId22"/>
    <p:sldId id="393" r:id="rId23"/>
    <p:sldId id="374" r:id="rId24"/>
    <p:sldId id="387" r:id="rId25"/>
    <p:sldId id="384" r:id="rId26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6" userDrawn="1">
          <p15:clr>
            <a:srgbClr val="A4A3A4"/>
          </p15:clr>
        </p15:guide>
        <p15:guide id="2" pos="300" userDrawn="1">
          <p15:clr>
            <a:srgbClr val="A4A3A4"/>
          </p15:clr>
        </p15:guide>
        <p15:guide id="3" orient="horz" pos="11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46" autoAdjust="0"/>
    <p:restoredTop sz="94660"/>
  </p:normalViewPr>
  <p:slideViewPr>
    <p:cSldViewPr snapToGrid="0" showGuides="1">
      <p:cViewPr varScale="1">
        <p:scale>
          <a:sx n="57" d="100"/>
          <a:sy n="57" d="100"/>
        </p:scale>
        <p:origin x="4662" y="102"/>
      </p:cViewPr>
      <p:guideLst>
        <p:guide orient="horz" pos="4316"/>
        <p:guide pos="300"/>
        <p:guide orient="horz" pos="1118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388558-F828-4BF6-B408-79D0AC865840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28A09E-2A56-4F92-AC68-479B6505801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8699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2652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3ABFE-F17A-812A-4FC4-DD24695C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45A84D-665A-38CF-F8BD-2F64BBA5A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7144E3B-3E53-3B47-89C8-CF72990AE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D86513-B865-97F6-806C-8BF389A14A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33977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4F5E-2645-F827-37AC-3FB455B3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425DAA-8FCA-40AA-4337-E64D32726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A495CF3-4096-BD69-6C4F-B152A2523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723A4C-6AF7-15CB-E4E1-F6D5606F2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5632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FAEC5-7EE3-CEC3-55A6-442F8F301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D2A0DC7-5A3C-7E0F-06C5-E5B9459D15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AFB672E-C397-8CB1-41EA-98562BB0E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66E627-983F-42FE-F570-DD7CA1F48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1904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0F54-64E1-D7C9-AAB0-71724BE4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FFADDD-B12E-B860-0EA3-049D9E21B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8EABCA-BD72-3CBB-4299-38748B07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CEF54A-D4F5-41AD-F766-BD367148C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4756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25E2-772B-AA9A-A39A-7211B0E9D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ADE73C-905A-F459-E924-529B9C9EC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2194DB2-0E08-D7D4-B3BB-F1F71C318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C8D74D-20E5-3629-E478-7E15934BA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7828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CE0C-34ED-342D-5541-86DCDF967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4D76EDF-B722-AD2E-9FFC-108EB8EDF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7FD9FA-E6FD-289E-C6EA-C9EC061C4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3E477E-A3F2-6BAC-85A7-B8F296777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637852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18C48-4CA2-91DE-83AD-4F216A7C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03DD15-3280-A5C2-C1DD-83513572FA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EEA4F72-FC1A-359F-3CAC-00AD5BCCE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DD9E11-CB63-697F-B760-E471235C9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265837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BDC-D1F5-0FB3-596D-8EE6E77B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D8365EF-9703-9359-CB25-6FC70D051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655BEE-00E5-96A5-FB66-AD0C10437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0D7449-A4F3-B087-B3DA-283CBF8FCB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25765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12479-8ECF-02C5-6C98-483BC22E9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1C37A9-8074-D835-2195-6FDD8087C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AF1D8F7-803E-F19E-B63C-C04AA4D0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B4D659-8259-FB7E-27C1-D8FD60A4A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03838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9840A-41FA-94F1-CD47-DCF441CCA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D260368-4C0A-E853-26ED-C854BE471F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BDDD1D-045E-601C-2B7D-FBE6865C8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A7AC19-968D-4AA6-E505-306772C89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434825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CE0C-34ED-342D-5541-86DCDF967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4D76EDF-B722-AD2E-9FFC-108EB8EDF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7FD9FA-E6FD-289E-C6EA-C9EC061C4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3E477E-A3F2-6BAC-85A7-B8F296777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735518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7D5D4-E052-DFEE-3FC0-1170B4118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C3B0799-5F98-D874-C09B-0017FC067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F08CEB6-ADDF-3D69-856E-319C46198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ADCFA6-60BA-3CE9-453C-105DD0D8D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72628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44C9-8102-0D1D-559E-BB6638565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F601BD-B623-F6FC-2017-460BD9F47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C020C26-34A6-A9D0-9B98-FD9F123E4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A6F1F0-733C-3DC9-E1F0-3C2C90446F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657189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C17A-143A-04BB-4863-87BEDB6B4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217864-EB27-F9D7-AAAB-0853C974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C3A777-FC51-5C11-CBA5-95C09FA4C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C462D9-85B2-E96B-4579-0BE14FA56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68875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81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5908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2282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7777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7389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9165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5" name="直線接點​​(S) 8">
            <a:extLst>
              <a:ext uri="{FF2B5EF4-FFF2-40B4-BE49-F238E27FC236}">
                <a16:creationId xmlns:a16="http://schemas.microsoft.com/office/drawing/2014/main" id="{40BC68BA-9ED0-D75A-652C-97699DFA5BEE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F9C78F4-CB43-B7B4-EA32-2D200918E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649113"/>
            <a:ext cx="5915025" cy="649110"/>
          </a:xfrm>
        </p:spPr>
        <p:txBody>
          <a:bodyPr>
            <a:normAutofit/>
          </a:bodyPr>
          <a:lstStyle>
            <a:lvl1pPr>
              <a:defRPr sz="2800">
                <a:latin typeface="Noto Serif TC Black" panose="02020200000000000000" pitchFamily="18" charset="-128"/>
                <a:ea typeface="Noto Serif TC Black" panose="02020200000000000000" pitchFamily="18" charset="-128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043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5048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0085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3634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1207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91730" y="2960925"/>
            <a:ext cx="2400165" cy="758572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2373376"/>
            <a:ext cx="3482149" cy="2097024"/>
          </a:xfrm>
        </p:spPr>
        <p:txBody>
          <a:bodyPr lIns="91440" tIns="45720" rIns="91440" bIns="45720" rtlCol="0" anchor="b"/>
          <a:lstStyle>
            <a:lvl1pPr>
              <a:defRPr sz="303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346" y="5023104"/>
            <a:ext cx="3482149" cy="5949696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1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28602">
              <a:defRPr sz="101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257203">
              <a:defRPr sz="9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385805">
              <a:defRPr sz="78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787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40651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>
          <p15:clr>
            <a:srgbClr val="FBAE40"/>
          </p15:clr>
        </p15:guide>
        <p15:guide id="2" pos="32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2205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50" y="819656"/>
            <a:ext cx="5829300" cy="2001922"/>
          </a:xfrm>
        </p:spPr>
        <p:txBody>
          <a:bodyPr rtlCol="0"/>
          <a:lstStyle/>
          <a:p>
            <a:pPr rtl="0">
              <a:tabLst>
                <a:tab pos="5688000" algn="r"/>
              </a:tabLst>
            </a:pP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十八音輸入方案</a:t>
            </a:r>
            <a:b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</a:b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變調操作</a:t>
            </a:r>
            <a:b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</a:b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	</a:t>
            </a:r>
            <a:r>
              <a:rPr lang="en-US" altLang="zh-TW" sz="1600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v0.0.2</a:t>
            </a:r>
            <a:endParaRPr lang="zh-TW" altLang="en-US" dirty="0">
              <a:solidFill>
                <a:schemeClr val="accent5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47A941E-61F5-0BA1-CFD5-EB5D86C4D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12" y="2821578"/>
            <a:ext cx="5695238" cy="296190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DCDD52B8-5401-9917-0D83-56D2B823D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614" y="6096000"/>
            <a:ext cx="5653224" cy="5276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1F6D4-AC6B-3D69-07A5-DF11AEAF5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97819F0-4D44-E2EA-27A4-34D6AE08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八調（八音）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1FF21A4-0495-217E-4524-886B953B2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3" y="4562289"/>
            <a:ext cx="6733333" cy="5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43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0FC2-CCA2-73C1-AB23-8FB3B8221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8210DB8-2E96-3C06-C01E-B41B80D5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614902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四聲八調之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調名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定義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543E60D-E52B-4E90-09AE-A0E539D1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6816725"/>
            <a:ext cx="5777024" cy="361840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6B8DE23-45D8-A9D4-95DE-879C7B72B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2003516"/>
            <a:ext cx="5777024" cy="361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518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DD506-8162-C3AE-18B3-4F9D82330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2AC69361-9F50-D73C-6145-04226548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70AC146E-0FF6-2C2A-64E9-59B560848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14902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</a:t>
            </a: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</a:t>
            </a: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-</a:t>
            </a:r>
            <a:r>
              <a:rPr lang="zh-TW" altLang="en-US">
                <a:solidFill>
                  <a:srgbClr val="FF000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聲調</a:t>
            </a: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排序規則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1DE571B-F85B-3A9C-715B-818279943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" y="1946202"/>
            <a:ext cx="5832292" cy="407182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09D8288-F301-7287-43A1-6D2B33054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5" y="7027689"/>
            <a:ext cx="5832292" cy="407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545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5AC59-D32E-93C6-A856-5410CCFDC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9E34CAED-452E-6B73-4DFB-C2F3B1121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16009C93-8C9D-A033-4FE4-2B9415132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332643" cy="509524"/>
          </a:xfrm>
        </p:spPr>
        <p:txBody>
          <a:bodyPr>
            <a:normAutofit/>
          </a:bodyPr>
          <a:lstStyle/>
          <a:p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四聲八調助記法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43C9A66B-6EF0-EDB4-B5EB-1A0425702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02672"/>
            <a:ext cx="6858000" cy="385267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53DAD47-EF9A-1E68-FA68-D8526EA4A1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88" y="2256996"/>
            <a:ext cx="6332644" cy="3937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FE0F7-A6BA-DBD6-4AE9-355D09920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5D1D419-A143-BC1A-D8DB-2656AA053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sp>
        <p:nvSpPr>
          <p:cNvPr id="2" name="投影片編號版面配置區 10">
            <a:extLst>
              <a:ext uri="{FF2B5EF4-FFF2-40B4-BE49-F238E27FC236}">
                <a16:creationId xmlns:a16="http://schemas.microsoft.com/office/drawing/2014/main" id="{8FCA5B71-B117-506B-CAFA-787F9410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3463" y="11300181"/>
            <a:ext cx="1543050" cy="649111"/>
          </a:xfrm>
        </p:spPr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735EA800-ABE3-AD70-D3DC-3532EF185A99}"/>
              </a:ext>
            </a:extLst>
          </p:cNvPr>
          <p:cNvGrpSpPr/>
          <p:nvPr/>
        </p:nvGrpSpPr>
        <p:grpSpPr>
          <a:xfrm>
            <a:off x="195072" y="4521663"/>
            <a:ext cx="6460711" cy="4659974"/>
            <a:chOff x="260486" y="6731325"/>
            <a:chExt cx="6460711" cy="4659974"/>
          </a:xfrm>
        </p:grpSpPr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F9ECE3A0-9FFF-A102-21E4-CF60215CD117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4DC371D6-E8EE-6B09-D746-F20EA6F02B8A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4A6C619F-EFD5-9A3F-715A-6D11774FD253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8196E40-0C54-7BDF-C022-F54036B57058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D4E084-CAC6-2817-88D3-4011BBE0D8EA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B7C6A45-7993-7FB8-78D4-F38A4ACBBBFE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2C56906F-D5C9-1544-9C00-FFE80573D9BF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136A00CA-A184-6F9E-8B14-56480A94FB6F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029AD493-C8FD-CDBC-0F2C-6C0F8369C0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5C64CBA9-C58A-9550-9E1B-637ADA6A7545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79C21F36-2CF8-D9CD-B8FE-E9CBA8D93F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AD780D51-9882-4B4E-3D67-A02D8AE17D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8DC56076-ED14-A952-1DF1-943ACF0F03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82EA9A30-8790-1D79-880D-3DDC648A14AF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96399765-AEA3-72CC-EBF1-BE68E1A00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77C95CEA-FC77-AD37-FAF0-F26029DC4D73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01FDE14E-34ED-1A64-9669-AB641692B8E1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E103FCFF-F90A-E150-DA56-0BBDC583B3EB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8C14708E-E65D-3486-EEDD-E695274AAC89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948D0996-F9EE-B0EF-C546-E2CF571463BD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B2966E7E-F95A-D5B2-3185-CC1080237FAC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6868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F7A6-89AB-FA70-CA41-8DC9CF4AB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D0553F4-0E2F-18B4-1777-40E6DE00F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八調之變調規則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2717FFCA-52F3-7101-A91C-9E62F0166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6250" y="1774825"/>
            <a:ext cx="5915025" cy="9638242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台語由兩個以上之單字（音節）構成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辭彙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時，在尾字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前面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的單字（音節）需改變音調，以便話語聽起來可以更自然；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無變調之漢字，其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所使用之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本調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；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有變調之漢字，其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所使用之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變調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 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。</a:t>
            </a:r>
          </a:p>
          <a:p>
            <a:pPr>
              <a:lnSpc>
                <a:spcPct val="150000"/>
              </a:lnSpc>
            </a:pPr>
            <a:endParaRPr lang="zh-TW" altLang="en-US" sz="25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F9A8A93-B629-2DAF-9913-95A587F8E69F}"/>
              </a:ext>
            </a:extLst>
          </p:cNvPr>
          <p:cNvSpPr txBox="1"/>
          <p:nvPr/>
        </p:nvSpPr>
        <p:spPr>
          <a:xfrm>
            <a:off x="476250" y="7840133"/>
            <a:ext cx="59055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912938">
              <a:tabLst>
                <a:tab pos="900000" algn="l"/>
              </a:tabLst>
            </a:pPr>
            <a:r>
              <a:rPr lang="zh-TW" altLang="en-US" sz="3600"/>
              <a:t>風</a:t>
            </a:r>
            <a:r>
              <a:rPr lang="en-US" altLang="zh-TW" sz="3600"/>
              <a:t>	〔</a:t>
            </a:r>
            <a:r>
              <a:rPr lang="zh-TW" altLang="en-US" sz="3600"/>
              <a:t>ㄏㆲ</a:t>
            </a:r>
            <a:r>
              <a:rPr lang="en-US" altLang="zh-TW" sz="3600"/>
              <a:t>〕	〔hong〕</a:t>
            </a:r>
          </a:p>
          <a:p>
            <a:pPr defTabSz="1912938">
              <a:tabLst>
                <a:tab pos="900000" algn="l"/>
              </a:tabLst>
            </a:pPr>
            <a:r>
              <a:rPr lang="zh-TW" altLang="en-US" sz="3600"/>
              <a:t>雲</a:t>
            </a:r>
            <a:r>
              <a:rPr lang="en-US" altLang="zh-TW" sz="3600"/>
              <a:t>	〔</a:t>
            </a:r>
            <a:r>
              <a:rPr lang="zh-TW" altLang="en-US" sz="3600"/>
              <a:t>ㄏㄨㄣˊ</a:t>
            </a:r>
            <a:r>
              <a:rPr lang="en-US" altLang="zh-TW" sz="3600"/>
              <a:t>〕	〔hûn〕</a:t>
            </a:r>
          </a:p>
          <a:p>
            <a:pPr defTabSz="1912938">
              <a:tabLst>
                <a:tab pos="900000" algn="l"/>
              </a:tabLst>
            </a:pPr>
            <a:endParaRPr lang="en-US" altLang="zh-TW" sz="3600"/>
          </a:p>
          <a:p>
            <a:pPr defTabSz="1912938">
              <a:tabLst>
                <a:tab pos="900000" algn="l"/>
              </a:tabLst>
            </a:pPr>
            <a:r>
              <a:rPr lang="zh-TW" altLang="en-US" sz="3600"/>
              <a:t>風雲</a:t>
            </a:r>
            <a:r>
              <a:rPr lang="en-US" altLang="zh-TW" sz="3600"/>
              <a:t>〔</a:t>
            </a:r>
            <a:r>
              <a:rPr lang="zh-TW" altLang="en-US" sz="3600"/>
              <a:t>ㄏㆲ˫ ㄏㄨㄣˊ</a:t>
            </a:r>
            <a:r>
              <a:rPr lang="en-US" altLang="zh-TW" sz="3600"/>
              <a:t>〕	〔hōng-hûn〕</a:t>
            </a:r>
            <a:endParaRPr lang="zh-TW" altLang="en-US" sz="3600"/>
          </a:p>
        </p:txBody>
      </p:sp>
    </p:spTree>
    <p:extLst>
      <p:ext uri="{BB962C8B-B14F-4D97-AF65-F5344CB8AC3E}">
        <p14:creationId xmlns:p14="http://schemas.microsoft.com/office/powerpoint/2010/main" val="1775992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30A96-C752-CA87-A66E-A2C14D34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188087C-6002-B6F9-8CCB-25C44663F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變調規則（一）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A5C392-8546-63D2-05D7-D5F9A50B5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2134"/>
            <a:ext cx="6858000" cy="6400190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7C84B49A-8D1C-F64C-788B-691C292E5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52538"/>
            <a:ext cx="6858000" cy="3852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250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6D980-8912-78D2-C70A-812B160F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4606FAE-EB9F-820B-2826-076D43B43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變調規則（二）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4C21173-DC5B-D5E3-E145-CAA096AD2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6250" y="1774825"/>
            <a:ext cx="5915025" cy="9638242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第一聲 →→ 第七聲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第二聲 →→ 第一聲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第三聲 →→ 第二聲  </a:t>
            </a:r>
          </a:p>
          <a:p>
            <a:pPr marL="285750" indent="-285750" defTabSz="1887538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98625" algn="l"/>
              </a:tabLst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第五聲 →→ 第七聲（南部） 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	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（或第三聲 －北部）  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第七聲 →→ 第三聲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第四聲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ㆴ</a:t>
            </a:r>
            <a:r>
              <a:rPr lang="zh-TW" altLang="zh-TW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ㆵ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ㆻ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第八聲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▯ㆷ</a:t>
            </a:r>
            <a:r>
              <a:rPr lang="en-US" altLang="zh-TW" sz="2500" kern="0" spc="-200">
                <a:solidFill>
                  <a:schemeClr val="tx1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第二聲 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第八聲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ㆴ̇</a:t>
            </a:r>
            <a:r>
              <a:rPr lang="zh-TW" altLang="zh-TW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ㆵ̇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ㆻ̇</a:t>
            </a:r>
            <a:r>
              <a:rPr lang="zh-TW" altLang="zh-TW" sz="2500" kern="0" spc="-200">
                <a:solidFill>
                  <a:srgbClr val="92D050"/>
                </a:solidFill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 </a:t>
            </a:r>
            <a:r>
              <a:rPr lang="zh-TW" altLang="en-US" sz="25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）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第四聲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ㆷ̇</a:t>
            </a:r>
            <a:r>
              <a:rPr lang="en-US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第三聲</a:t>
            </a:r>
            <a:endParaRPr lang="zh-TW" altLang="en-US" sz="25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AC9F826-4E19-C1E5-493F-25B8D288F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178" y="8871122"/>
            <a:ext cx="4493079" cy="316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651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5864-D3E0-DF9A-8894-2D48F4809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AFA02A45-8098-9AA3-30C2-71A10E411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5193F2-664B-54AC-E195-F655C7A7E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D91E2F7-93C0-7651-1031-407F53CF5216}"/>
              </a:ext>
            </a:extLst>
          </p:cNvPr>
          <p:cNvSpPr txBox="1"/>
          <p:nvPr/>
        </p:nvSpPr>
        <p:spPr>
          <a:xfrm>
            <a:off x="175029" y="5502740"/>
            <a:ext cx="6071634" cy="5955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中降低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（上声調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二聲調）；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一聲調）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低促升高促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（陽入調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八聲調）；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高促降低促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四聲調）；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  <a:r>
              <a:rPr lang="zh-TW" altLang="en-US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（喉塞音）</a:t>
            </a:r>
            <a:endParaRPr lang="en-US" altLang="zh-TW" dirty="0">
              <a:solidFill>
                <a:srgbClr val="7030A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（上声調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二聲調）；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三聲調）。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3" name="圖片 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DCF5C821-9FB8-691B-E67D-FE8DAEF9FF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19888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978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0BA6-184C-D923-92FE-5DD5ED4FE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1FF8E8C-02ED-3547-6E78-213B00ED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DAA289F-0393-98B1-2995-175A9AC1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729" y="1547177"/>
            <a:ext cx="3568131" cy="1041717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57407BE-BDAA-1F7B-5E4E-574B75AA0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68" y="6245049"/>
            <a:ext cx="2774483" cy="203035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057EB3F5-A597-A66A-A772-052FBD5A45FC}"/>
              </a:ext>
            </a:extLst>
          </p:cNvPr>
          <p:cNvSpPr txBox="1"/>
          <p:nvPr/>
        </p:nvSpPr>
        <p:spPr>
          <a:xfrm>
            <a:off x="212402" y="3075304"/>
            <a:ext cx="25681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中降低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低入升高入；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高入降低入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6" name="圖片 5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CD9A12B9-2A12-D2CD-C284-A6A8AF52B0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68" y="1521380"/>
            <a:ext cx="2729090" cy="153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381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111B-54EE-C3AC-CBE3-89F89C5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4BB4B94-277E-AE36-62D2-D56406BE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9865824-5814-7968-481D-28C728AC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74825"/>
            <a:ext cx="6858000" cy="4784651"/>
          </a:xfrm>
          <a:prstGeom prst="rect">
            <a:avLst/>
          </a:prstGeom>
        </p:spPr>
      </p:pic>
      <p:pic>
        <p:nvPicPr>
          <p:cNvPr id="28" name="圖片 27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E5A438EF-586F-7A2E-FDAD-0B6FDC7743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449237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00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84CCD-9727-E372-4B91-642BACC6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9009C66-B08D-25B4-391A-73C51F98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>
            <a:normAutofit/>
          </a:bodyPr>
          <a:lstStyle/>
          <a:p>
            <a:r>
              <a:rPr lang="zh-TW" altLang="en-US">
                <a:solidFill>
                  <a:schemeClr val="accent1"/>
                </a:solidFill>
              </a:rPr>
              <a:t>變調標註</a:t>
            </a:r>
            <a:endParaRPr lang="zh-TW" altLang="en-US" dirty="0"/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0B226EBA-5A0C-B020-3C48-274A04D40D96}"/>
              </a:ext>
            </a:extLst>
          </p:cNvPr>
          <p:cNvGrpSpPr/>
          <p:nvPr/>
        </p:nvGrpSpPr>
        <p:grpSpPr>
          <a:xfrm>
            <a:off x="393183" y="6987779"/>
            <a:ext cx="6071634" cy="2725805"/>
            <a:chOff x="356907" y="5899747"/>
            <a:chExt cx="6071634" cy="2725805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75DDB74-C32F-7EB9-98EA-9BBF6CA733E7}"/>
                </a:ext>
              </a:extLst>
            </p:cNvPr>
            <p:cNvSpPr txBox="1"/>
            <p:nvPr/>
          </p:nvSpPr>
          <p:spPr>
            <a:xfrm>
              <a:off x="356907" y="5899747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200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defRPr>
              </a:lvl1pPr>
            </a:lstStyle>
            <a:p>
              <a:r>
                <a:rPr lang="en-US" altLang="zh-TW" dirty="0"/>
                <a:t>【</a:t>
              </a:r>
              <a:r>
                <a:rPr lang="zh-TW" altLang="en-US" dirty="0"/>
                <a:t>乙式</a:t>
              </a:r>
              <a:r>
                <a:rPr lang="en-US" altLang="zh-TW" dirty="0"/>
                <a:t>】</a:t>
              </a:r>
              <a:r>
                <a:rPr lang="zh-TW" altLang="en-US" dirty="0"/>
                <a:t>：</a:t>
              </a:r>
            </a:p>
          </p:txBody>
        </p:sp>
        <p:sp>
          <p:nvSpPr>
            <p:cNvPr id="13" name="圖說文字: 折線 12">
              <a:extLst>
                <a:ext uri="{FF2B5EF4-FFF2-40B4-BE49-F238E27FC236}">
                  <a16:creationId xmlns:a16="http://schemas.microsoft.com/office/drawing/2014/main" id="{B8C830CA-B1E1-2DBC-38E4-440899874DF2}"/>
                </a:ext>
              </a:extLst>
            </p:cNvPr>
            <p:cNvSpPr/>
            <p:nvPr/>
          </p:nvSpPr>
          <p:spPr>
            <a:xfrm>
              <a:off x="2066299" y="6352650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4" name="圖說文字: 折線 13">
              <a:extLst>
                <a:ext uri="{FF2B5EF4-FFF2-40B4-BE49-F238E27FC236}">
                  <a16:creationId xmlns:a16="http://schemas.microsoft.com/office/drawing/2014/main" id="{93297450-1530-A307-A227-A8BB50D52F54}"/>
                </a:ext>
              </a:extLst>
            </p:cNvPr>
            <p:cNvSpPr/>
            <p:nvPr/>
          </p:nvSpPr>
          <p:spPr>
            <a:xfrm>
              <a:off x="5087047" y="6352649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7C685C80-786D-0DFE-D6EF-B1E14B3F9CF7}"/>
                </a:ext>
              </a:extLst>
            </p:cNvPr>
            <p:cNvSpPr txBox="1"/>
            <p:nvPr/>
          </p:nvSpPr>
          <p:spPr>
            <a:xfrm>
              <a:off x="1059587" y="7055892"/>
              <a:ext cx="521045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dirty="0">
                  <a:solidFill>
                    <a:schemeClr val="accent3"/>
                  </a:solidFill>
                </a:rPr>
                <a:t>~</a:t>
              </a:r>
              <a:r>
                <a:rPr lang="en-US" altLang="zh-TW" sz="9600" dirty="0">
                  <a:solidFill>
                    <a:srgbClr val="FF0000"/>
                  </a:solidFill>
                </a:rPr>
                <a:t>2</a:t>
              </a:r>
              <a:endParaRPr lang="zh-TW" altLang="en-US" sz="96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17E62106-AEBB-F607-6BB9-7D424E8C20E3}"/>
              </a:ext>
            </a:extLst>
          </p:cNvPr>
          <p:cNvGrpSpPr/>
          <p:nvPr/>
        </p:nvGrpSpPr>
        <p:grpSpPr>
          <a:xfrm>
            <a:off x="263787" y="1836737"/>
            <a:ext cx="6071634" cy="3367485"/>
            <a:chOff x="282299" y="2001562"/>
            <a:chExt cx="6071634" cy="3367485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3D49DA6-D519-7B7F-898D-F2170F150E77}"/>
                </a:ext>
              </a:extLst>
            </p:cNvPr>
            <p:cNvSpPr txBox="1"/>
            <p:nvPr/>
          </p:nvSpPr>
          <p:spPr>
            <a:xfrm>
              <a:off x="282299" y="2001562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【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甲式</a:t>
              </a:r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】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：</a:t>
              </a:r>
            </a:p>
          </p:txBody>
        </p:sp>
        <p:sp>
          <p:nvSpPr>
            <p:cNvPr id="9" name="圖說文字: 折線 8">
              <a:extLst>
                <a:ext uri="{FF2B5EF4-FFF2-40B4-BE49-F238E27FC236}">
                  <a16:creationId xmlns:a16="http://schemas.microsoft.com/office/drawing/2014/main" id="{4A0007FB-1563-CFA9-698D-C9A1EFB212FF}"/>
                </a:ext>
              </a:extLst>
            </p:cNvPr>
            <p:cNvSpPr/>
            <p:nvPr/>
          </p:nvSpPr>
          <p:spPr>
            <a:xfrm>
              <a:off x="2150189" y="2979744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0" name="圖說文字: 折線 9">
              <a:extLst>
                <a:ext uri="{FF2B5EF4-FFF2-40B4-BE49-F238E27FC236}">
                  <a16:creationId xmlns:a16="http://schemas.microsoft.com/office/drawing/2014/main" id="{C642FCE3-441A-E006-C76D-4BE5F372D799}"/>
                </a:ext>
              </a:extLst>
            </p:cNvPr>
            <p:cNvSpPr/>
            <p:nvPr/>
          </p:nvSpPr>
          <p:spPr>
            <a:xfrm>
              <a:off x="4579121" y="2991910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D3F95E1F-5FCA-91DF-EF26-E647A6DDF443}"/>
                </a:ext>
              </a:extLst>
            </p:cNvPr>
            <p:cNvSpPr txBox="1"/>
            <p:nvPr/>
          </p:nvSpPr>
          <p:spPr>
            <a:xfrm>
              <a:off x="1283885" y="3799387"/>
              <a:ext cx="352548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baseline="30000" dirty="0">
                  <a:solidFill>
                    <a:schemeClr val="accent3"/>
                  </a:solidFill>
                </a:rPr>
                <a:t>-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2</a:t>
              </a:r>
              <a:endParaRPr lang="zh-TW" altLang="en-US" sz="9600" baseline="300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333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C06B878-DC89-B750-6712-738A0CF82554}"/>
              </a:ext>
            </a:extLst>
          </p:cNvPr>
          <p:cNvSpPr/>
          <p:nvPr/>
        </p:nvSpPr>
        <p:spPr>
          <a:xfrm>
            <a:off x="471487" y="4402667"/>
            <a:ext cx="5915026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5400" b="1" cap="none" spc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The End</a:t>
            </a:r>
            <a:endParaRPr lang="zh-TW" altLang="en-US" sz="5400" b="1" cap="none" spc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18649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B58E76-8D5E-6B5A-F8D6-214963EC9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907A350-B701-8BCA-A227-CB0488C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台羅拼音：聲調（一）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ADD7C54-F1C9-5A57-2902-71690EEF7428}"/>
              </a:ext>
            </a:extLst>
          </p:cNvPr>
          <p:cNvSpPr txBox="1"/>
          <p:nvPr/>
        </p:nvSpPr>
        <p:spPr>
          <a:xfrm>
            <a:off x="0" y="1722723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聲調標註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6E56190-6696-BCF2-1598-17202FBEDA88}"/>
              </a:ext>
            </a:extLst>
          </p:cNvPr>
          <p:cNvSpPr txBox="1"/>
          <p:nvPr/>
        </p:nvSpPr>
        <p:spPr>
          <a:xfrm>
            <a:off x="395287" y="2245943"/>
            <a:ext cx="60716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四聲八調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，實際僅有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【7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閩南語的八聲調，其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分別為：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陰平、陰上、陰去、陰入；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陽平、陽上、陽去、陽入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漳州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廈門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台灣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之地方腔，己無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調，故有些人將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，統稱為：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上聲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台羅拼音標示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，標準用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調符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（聲調符號）（與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白話字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同）；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顧及電腦輸入之便利性，亦可使用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（數值）代替；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【1】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陰入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【4】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，允許省略不標示。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1A37D72A-40E3-8A58-1EAE-86E84FE68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59" y="5385264"/>
            <a:ext cx="5429601" cy="48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2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9584CCD-9727-E372-4B91-642BACC6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9009C66-B08D-25B4-391A-73C51F98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台羅拼音：聲調（二）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586E8D9-78A2-98D7-44DA-3D941E04D062}"/>
              </a:ext>
            </a:extLst>
          </p:cNvPr>
          <p:cNvSpPr txBox="1"/>
          <p:nvPr/>
        </p:nvSpPr>
        <p:spPr>
          <a:xfrm>
            <a:off x="10812" y="1761028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變調標註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0B226EBA-5A0C-B020-3C48-274A04D40D96}"/>
              </a:ext>
            </a:extLst>
          </p:cNvPr>
          <p:cNvGrpSpPr/>
          <p:nvPr/>
        </p:nvGrpSpPr>
        <p:grpSpPr>
          <a:xfrm>
            <a:off x="330846" y="5054976"/>
            <a:ext cx="6071634" cy="2725805"/>
            <a:chOff x="356907" y="5899747"/>
            <a:chExt cx="6071634" cy="2725805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75DDB74-C32F-7EB9-98EA-9BBF6CA733E7}"/>
                </a:ext>
              </a:extLst>
            </p:cNvPr>
            <p:cNvSpPr txBox="1"/>
            <p:nvPr/>
          </p:nvSpPr>
          <p:spPr>
            <a:xfrm>
              <a:off x="356907" y="5899747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200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defRPr>
              </a:lvl1pPr>
            </a:lstStyle>
            <a:p>
              <a:r>
                <a:rPr lang="en-US" altLang="zh-TW" dirty="0"/>
                <a:t>【</a:t>
              </a:r>
              <a:r>
                <a:rPr lang="zh-TW" altLang="en-US" dirty="0"/>
                <a:t>乙式</a:t>
              </a:r>
              <a:r>
                <a:rPr lang="en-US" altLang="zh-TW" dirty="0"/>
                <a:t>】</a:t>
              </a:r>
              <a:r>
                <a:rPr lang="zh-TW" altLang="en-US" dirty="0"/>
                <a:t>：</a:t>
              </a:r>
            </a:p>
          </p:txBody>
        </p:sp>
        <p:sp>
          <p:nvSpPr>
            <p:cNvPr id="13" name="圖說文字: 折線 12">
              <a:extLst>
                <a:ext uri="{FF2B5EF4-FFF2-40B4-BE49-F238E27FC236}">
                  <a16:creationId xmlns:a16="http://schemas.microsoft.com/office/drawing/2014/main" id="{B8C830CA-B1E1-2DBC-38E4-440899874DF2}"/>
                </a:ext>
              </a:extLst>
            </p:cNvPr>
            <p:cNvSpPr/>
            <p:nvPr/>
          </p:nvSpPr>
          <p:spPr>
            <a:xfrm>
              <a:off x="2066299" y="6352650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4" name="圖說文字: 折線 13">
              <a:extLst>
                <a:ext uri="{FF2B5EF4-FFF2-40B4-BE49-F238E27FC236}">
                  <a16:creationId xmlns:a16="http://schemas.microsoft.com/office/drawing/2014/main" id="{93297450-1530-A307-A227-A8BB50D52F54}"/>
                </a:ext>
              </a:extLst>
            </p:cNvPr>
            <p:cNvSpPr/>
            <p:nvPr/>
          </p:nvSpPr>
          <p:spPr>
            <a:xfrm>
              <a:off x="5087047" y="6352649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7C685C80-786D-0DFE-D6EF-B1E14B3F9CF7}"/>
                </a:ext>
              </a:extLst>
            </p:cNvPr>
            <p:cNvSpPr txBox="1"/>
            <p:nvPr/>
          </p:nvSpPr>
          <p:spPr>
            <a:xfrm>
              <a:off x="1059587" y="7055892"/>
              <a:ext cx="521045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dirty="0">
                  <a:solidFill>
                    <a:schemeClr val="accent3"/>
                  </a:solidFill>
                </a:rPr>
                <a:t>~</a:t>
              </a:r>
              <a:r>
                <a:rPr lang="en-US" altLang="zh-TW" sz="9600" dirty="0">
                  <a:solidFill>
                    <a:srgbClr val="FF0000"/>
                  </a:solidFill>
                </a:rPr>
                <a:t>2</a:t>
              </a:r>
              <a:endParaRPr lang="zh-TW" altLang="en-US" sz="96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17E62106-AEBB-F607-6BB9-7D424E8C20E3}"/>
              </a:ext>
            </a:extLst>
          </p:cNvPr>
          <p:cNvGrpSpPr/>
          <p:nvPr/>
        </p:nvGrpSpPr>
        <p:grpSpPr>
          <a:xfrm>
            <a:off x="263787" y="2388413"/>
            <a:ext cx="6071634" cy="2815809"/>
            <a:chOff x="282299" y="2553238"/>
            <a:chExt cx="6071634" cy="2815809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3D49DA6-D519-7B7F-898D-F2170F150E77}"/>
                </a:ext>
              </a:extLst>
            </p:cNvPr>
            <p:cNvSpPr txBox="1"/>
            <p:nvPr/>
          </p:nvSpPr>
          <p:spPr>
            <a:xfrm>
              <a:off x="282299" y="2553238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【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甲式</a:t>
              </a:r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】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：</a:t>
              </a:r>
            </a:p>
          </p:txBody>
        </p:sp>
        <p:sp>
          <p:nvSpPr>
            <p:cNvPr id="9" name="圖說文字: 折線 8">
              <a:extLst>
                <a:ext uri="{FF2B5EF4-FFF2-40B4-BE49-F238E27FC236}">
                  <a16:creationId xmlns:a16="http://schemas.microsoft.com/office/drawing/2014/main" id="{4A0007FB-1563-CFA9-698D-C9A1EFB212FF}"/>
                </a:ext>
              </a:extLst>
            </p:cNvPr>
            <p:cNvSpPr/>
            <p:nvPr/>
          </p:nvSpPr>
          <p:spPr>
            <a:xfrm>
              <a:off x="2150189" y="2979744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0" name="圖說文字: 折線 9">
              <a:extLst>
                <a:ext uri="{FF2B5EF4-FFF2-40B4-BE49-F238E27FC236}">
                  <a16:creationId xmlns:a16="http://schemas.microsoft.com/office/drawing/2014/main" id="{C642FCE3-441A-E006-C76D-4BE5F372D799}"/>
                </a:ext>
              </a:extLst>
            </p:cNvPr>
            <p:cNvSpPr/>
            <p:nvPr/>
          </p:nvSpPr>
          <p:spPr>
            <a:xfrm>
              <a:off x="4579121" y="2991910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D3F95E1F-5FCA-91DF-EF26-E647A6DDF443}"/>
                </a:ext>
              </a:extLst>
            </p:cNvPr>
            <p:cNvSpPr txBox="1"/>
            <p:nvPr/>
          </p:nvSpPr>
          <p:spPr>
            <a:xfrm>
              <a:off x="1283885" y="3799387"/>
              <a:ext cx="352548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baseline="30000" dirty="0">
                  <a:solidFill>
                    <a:schemeClr val="accent3"/>
                  </a:solidFill>
                </a:rPr>
                <a:t>-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2</a:t>
              </a:r>
              <a:endParaRPr lang="zh-TW" altLang="en-US" sz="9600" baseline="300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4" name="圖片 3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33AC3A3E-41F9-FE1B-D9E3-9760801CA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21539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981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8DD3EAC-6A91-42F6-6DF4-D083A146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6E89DDC-0548-46C2-8EE2-2178B3503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75DE3569-D975-F782-9900-223C1E4DEFA9}"/>
              </a:ext>
            </a:extLst>
          </p:cNvPr>
          <p:cNvGrpSpPr/>
          <p:nvPr/>
        </p:nvGrpSpPr>
        <p:grpSpPr>
          <a:xfrm>
            <a:off x="217895" y="6951175"/>
            <a:ext cx="6261282" cy="4385649"/>
            <a:chOff x="217895" y="7378683"/>
            <a:chExt cx="6261282" cy="4385649"/>
          </a:xfrm>
        </p:grpSpPr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7AF22ACE-C733-83B6-77AA-9D90A4CF77A6}"/>
                </a:ext>
              </a:extLst>
            </p:cNvPr>
            <p:cNvSpPr txBox="1"/>
            <p:nvPr/>
          </p:nvSpPr>
          <p:spPr>
            <a:xfrm>
              <a:off x="476250" y="7378683"/>
              <a:ext cx="5830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3600" dirty="0">
                  <a:solidFill>
                    <a:srgbClr val="0070C0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三百六十行，行行出狀元。</a:t>
              </a: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D57FA94-007F-0AF6-90AC-951592D436D2}"/>
                </a:ext>
              </a:extLst>
            </p:cNvPr>
            <p:cNvSpPr txBox="1"/>
            <p:nvPr/>
          </p:nvSpPr>
          <p:spPr>
            <a:xfrm>
              <a:off x="476250" y="9643365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Sann1-pah4 lak8-tsap8 hang5,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hang-hang5 tshut4 tsiong7-guan5.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15C37831-BB78-7CB5-3AD2-C8F5C5E1225E}"/>
                </a:ext>
              </a:extLst>
            </p:cNvPr>
            <p:cNvSpPr txBox="1"/>
            <p:nvPr/>
          </p:nvSpPr>
          <p:spPr>
            <a:xfrm>
              <a:off x="476250" y="10933335"/>
              <a:ext cx="600292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Sann1~7 pah4~2 lak8~4 tsap8~4 hang5, </a:t>
              </a:r>
              <a:br>
                <a:rPr lang="en-US" altLang="zh-TW" sz="240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hang5~7 hang5 tshut4~8 tsiong7~3 guan5.</a:t>
              </a:r>
              <a:endParaRPr lang="zh-TW" altLang="en-US" sz="2400" dirty="0">
                <a:solidFill>
                  <a:schemeClr val="accent2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7D3FA136-174E-3949-6DFD-378133D57ABF}"/>
                </a:ext>
              </a:extLst>
            </p:cNvPr>
            <p:cNvSpPr txBox="1"/>
            <p:nvPr/>
          </p:nvSpPr>
          <p:spPr>
            <a:xfrm>
              <a:off x="217895" y="8078918"/>
              <a:ext cx="3259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57D514EA-5E04-861A-60EA-287DF7A756E1}"/>
                </a:ext>
              </a:extLst>
            </p:cNvPr>
            <p:cNvSpPr txBox="1"/>
            <p:nvPr/>
          </p:nvSpPr>
          <p:spPr>
            <a:xfrm>
              <a:off x="217895" y="10574432"/>
              <a:ext cx="47895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用調號標變調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D856A1FE-0B41-43DE-B7CA-05C84E807B0B}"/>
                </a:ext>
              </a:extLst>
            </p:cNvPr>
            <p:cNvSpPr txBox="1"/>
            <p:nvPr/>
          </p:nvSpPr>
          <p:spPr>
            <a:xfrm>
              <a:off x="217895" y="9312462"/>
              <a:ext cx="42408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用調號標本調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B2E15B6-F50A-E4A7-F884-8EBF9D9BF943}"/>
                </a:ext>
              </a:extLst>
            </p:cNvPr>
            <p:cNvSpPr txBox="1"/>
            <p:nvPr/>
          </p:nvSpPr>
          <p:spPr>
            <a:xfrm>
              <a:off x="441325" y="8391654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Sann-</a:t>
              </a:r>
              <a:r>
                <a:rPr lang="en-US" altLang="zh-TW" sz="2400" dirty="0" err="1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pah</a:t>
              </a: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 la̍k-tsa̍p hâng ,</a:t>
              </a:r>
            </a:p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hâng-hâng tshut tsiōng-guân.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F6B6CAB8-D346-B024-7025-374E3CC9D48D}"/>
              </a:ext>
            </a:extLst>
          </p:cNvPr>
          <p:cNvGrpSpPr/>
          <p:nvPr/>
        </p:nvGrpSpPr>
        <p:grpSpPr>
          <a:xfrm>
            <a:off x="217895" y="1894061"/>
            <a:ext cx="6261282" cy="4240293"/>
            <a:chOff x="217895" y="2212538"/>
            <a:chExt cx="6261282" cy="4240293"/>
          </a:xfrm>
        </p:grpSpPr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3D1E7738-D367-D8ED-0A15-FA99C2BE2075}"/>
                </a:ext>
              </a:extLst>
            </p:cNvPr>
            <p:cNvSpPr txBox="1"/>
            <p:nvPr/>
          </p:nvSpPr>
          <p:spPr>
            <a:xfrm>
              <a:off x="476250" y="2212538"/>
              <a:ext cx="5830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3600" dirty="0">
                  <a:solidFill>
                    <a:srgbClr val="0070C0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人情留一線，日後好相看。</a:t>
              </a:r>
            </a:p>
          </p:txBody>
        </p:sp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27FA9315-58C9-A1F0-2681-C3E2F954D633}"/>
                </a:ext>
              </a:extLst>
            </p:cNvPr>
            <p:cNvSpPr txBox="1"/>
            <p:nvPr/>
          </p:nvSpPr>
          <p:spPr>
            <a:xfrm>
              <a:off x="476250" y="4331864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Jin5-tsing5 lau5 tsit8 suann3, 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jit8-au7 ho2 sio1 khuann3.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0B7DDD18-D5B4-CE9E-324A-8265AAF740C0}"/>
                </a:ext>
              </a:extLst>
            </p:cNvPr>
            <p:cNvSpPr txBox="1"/>
            <p:nvPr/>
          </p:nvSpPr>
          <p:spPr>
            <a:xfrm>
              <a:off x="476250" y="5621834"/>
              <a:ext cx="600292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Jin5~7 tsing5 lau5~7 tsit8~4 suann3, </a:t>
              </a:r>
              <a:b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jit8~4 au7 ho2~1 sio1~7 khuann3.</a:t>
              </a:r>
              <a:endParaRPr lang="zh-TW" altLang="en-US" sz="2400" dirty="0">
                <a:solidFill>
                  <a:schemeClr val="accent2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8B13AF7-43C2-C1AA-7DD6-7ED7AD53B989}"/>
                </a:ext>
              </a:extLst>
            </p:cNvPr>
            <p:cNvSpPr txBox="1"/>
            <p:nvPr/>
          </p:nvSpPr>
          <p:spPr>
            <a:xfrm>
              <a:off x="217895" y="4000961"/>
              <a:ext cx="4676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用調號標本調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8D0EC12-78B6-5443-7186-76B88F5D40BB}"/>
                </a:ext>
              </a:extLst>
            </p:cNvPr>
            <p:cNvSpPr txBox="1"/>
            <p:nvPr/>
          </p:nvSpPr>
          <p:spPr>
            <a:xfrm>
              <a:off x="217895" y="5262931"/>
              <a:ext cx="4676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用調號標變調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C4CC40AA-3A9D-800E-19D0-A7E522BED571}"/>
                </a:ext>
              </a:extLst>
            </p:cNvPr>
            <p:cNvSpPr txBox="1"/>
            <p:nvPr/>
          </p:nvSpPr>
          <p:spPr>
            <a:xfrm>
              <a:off x="217895" y="2865345"/>
              <a:ext cx="3259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BF1160-8D41-FDD8-1D82-D8BF9819C7D3}"/>
                </a:ext>
              </a:extLst>
            </p:cNvPr>
            <p:cNvSpPr txBox="1"/>
            <p:nvPr/>
          </p:nvSpPr>
          <p:spPr>
            <a:xfrm>
              <a:off x="441325" y="3178081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Jîn-tsîng lâu tsi̍t suànn,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ji̍t-āu hó sio khuànn.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7180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740B51-8872-F473-F37D-2EE308BA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B431FAA7-30A9-5DD2-85D4-A70F6422C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394C4B-5C4E-3632-A00C-95970641A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885138"/>
            <a:ext cx="591026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6" name="左大括弧 5">
            <a:extLst>
              <a:ext uri="{FF2B5EF4-FFF2-40B4-BE49-F238E27FC236}">
                <a16:creationId xmlns:a16="http://schemas.microsoft.com/office/drawing/2014/main" id="{73E3276D-91EA-5D9B-2E7F-E59E4DE0B7B6}"/>
              </a:ext>
            </a:extLst>
          </p:cNvPr>
          <p:cNvSpPr/>
          <p:nvPr/>
        </p:nvSpPr>
        <p:spPr>
          <a:xfrm rot="5400000">
            <a:off x="5517986" y="2149106"/>
            <a:ext cx="222463" cy="114936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403204D7-BE8A-AFDD-1601-5508D7FA3637}"/>
              </a:ext>
            </a:extLst>
          </p:cNvPr>
          <p:cNvSpPr/>
          <p:nvPr/>
        </p:nvSpPr>
        <p:spPr>
          <a:xfrm rot="5400000">
            <a:off x="3157032" y="935367"/>
            <a:ext cx="227782" cy="356722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左大括弧 9">
            <a:extLst>
              <a:ext uri="{FF2B5EF4-FFF2-40B4-BE49-F238E27FC236}">
                <a16:creationId xmlns:a16="http://schemas.microsoft.com/office/drawing/2014/main" id="{9F52719A-6085-A688-F50B-6831BD0D98B8}"/>
              </a:ext>
            </a:extLst>
          </p:cNvPr>
          <p:cNvSpPr/>
          <p:nvPr/>
        </p:nvSpPr>
        <p:spPr>
          <a:xfrm rot="16200000" flipV="1">
            <a:off x="1950760" y="3135748"/>
            <a:ext cx="222463" cy="114936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左大括弧 11">
            <a:extLst>
              <a:ext uri="{FF2B5EF4-FFF2-40B4-BE49-F238E27FC236}">
                <a16:creationId xmlns:a16="http://schemas.microsoft.com/office/drawing/2014/main" id="{1B0B417B-011E-4BD1-F341-38F9599F35D7}"/>
              </a:ext>
            </a:extLst>
          </p:cNvPr>
          <p:cNvSpPr/>
          <p:nvPr/>
        </p:nvSpPr>
        <p:spPr>
          <a:xfrm rot="16200000" flipV="1">
            <a:off x="4343607" y="1924158"/>
            <a:ext cx="227782" cy="356722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99FA93-AA6D-DEA7-EDC8-4FA66085A673}"/>
              </a:ext>
            </a:extLst>
          </p:cNvPr>
          <p:cNvSpPr txBox="1"/>
          <p:nvPr/>
        </p:nvSpPr>
        <p:spPr>
          <a:xfrm>
            <a:off x="2404455" y="2177041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rgbClr val="00206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47653B0-7923-F02A-C9A0-88A41BA7EDF9}"/>
              </a:ext>
            </a:extLst>
          </p:cNvPr>
          <p:cNvSpPr txBox="1"/>
          <p:nvPr/>
        </p:nvSpPr>
        <p:spPr>
          <a:xfrm>
            <a:off x="4762749" y="2177041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rgbClr val="00206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275175F-71E7-53A2-512A-47E4B263C59F}"/>
              </a:ext>
            </a:extLst>
          </p:cNvPr>
          <p:cNvSpPr txBox="1"/>
          <p:nvPr/>
        </p:nvSpPr>
        <p:spPr>
          <a:xfrm>
            <a:off x="1195523" y="3844680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4">
                    <a:lumMod val="7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平聲調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BB219A2-84B5-B876-0AB5-0202BB637F11}"/>
              </a:ext>
            </a:extLst>
          </p:cNvPr>
          <p:cNvSpPr txBox="1"/>
          <p:nvPr/>
        </p:nvSpPr>
        <p:spPr>
          <a:xfrm>
            <a:off x="3591030" y="3844680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4">
                    <a:lumMod val="7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仄聲調</a:t>
            </a: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D8D4F9D4-6902-55E0-91CF-DEF320F6D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62" y="2871198"/>
            <a:ext cx="5956450" cy="709392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AC48D669-D5C0-D95C-2BB4-CE738705A757}"/>
              </a:ext>
            </a:extLst>
          </p:cNvPr>
          <p:cNvSpPr txBox="1"/>
          <p:nvPr/>
        </p:nvSpPr>
        <p:spPr>
          <a:xfrm>
            <a:off x="464612" y="5140969"/>
            <a:ext cx="592190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是漢語音韻學和漢語方言學術語，指不以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塞音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為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，與促聲韻相反，簡稱舒聲。 現代官話普通話將所有促聲韻漢字發成舒聲韻。 在分析唐詩等古典詩詞詩，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廣韻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》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等韻書分漢字讀音為平、上、去、入四類聲調，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皆配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皆配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b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平仄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是中文詩詞中用字的聲調，用以區分字的陰平、陽平和上、去、入聲。 「平」指平聲，而「仄」則指上聲、去聲和入聲。 在詩詞創作中，平仄的運用有著嚴格的格律要求，用以營造詩歌的音韻美感。</a:t>
            </a:r>
          </a:p>
        </p:txBody>
      </p:sp>
    </p:spTree>
    <p:extLst>
      <p:ext uri="{BB962C8B-B14F-4D97-AF65-F5344CB8AC3E}">
        <p14:creationId xmlns:p14="http://schemas.microsoft.com/office/powerpoint/2010/main" val="16776703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4B9AED-45CA-70D7-EC0A-85678E78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0A27B618-F1D3-B971-D2CC-4368995D0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F21ADF41-4FD2-5946-594E-91005A6A8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4228184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台羅拼音之四聲八調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2E35074-2EF7-E73C-C98C-61D43E498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13130"/>
            <a:ext cx="6858000" cy="22769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EA7AD95-E2DA-C293-348B-CE96CEFA0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1823166"/>
            <a:ext cx="6250396" cy="436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9353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D990DBE-5289-4349-E226-F52D71E06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D41822CD-8F20-37A7-AD83-5E05E761F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96B03C8-ADC4-DD31-CC94-4760EAAC2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四聲八調：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W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助記法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551D755-1A0B-9283-E1F8-F1FDC38DD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747837"/>
            <a:ext cx="5810250" cy="4219575"/>
          </a:xfrm>
          <a:prstGeom prst="rect">
            <a:avLst/>
          </a:prstGeom>
        </p:spPr>
      </p:pic>
      <p:pic>
        <p:nvPicPr>
          <p:cNvPr id="5" name="圖片 4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BD26EB20-4BCE-8B16-A05B-427783E6D7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57764"/>
            <a:ext cx="6858000" cy="3857625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66FEF95D-B05C-B665-8946-D866BF066453}"/>
              </a:ext>
            </a:extLst>
          </p:cNvPr>
          <p:cNvGrpSpPr/>
          <p:nvPr/>
        </p:nvGrpSpPr>
        <p:grpSpPr>
          <a:xfrm>
            <a:off x="476250" y="6434524"/>
            <a:ext cx="5933229" cy="1657143"/>
            <a:chOff x="453284" y="7347647"/>
            <a:chExt cx="5933229" cy="1657143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B6F61512-F6A6-E670-F37C-B7E9C4ECA8EA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A03B8591-B4CA-EF15-212D-1CE1FAF23E74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5</a:t>
                </a:r>
                <a:endParaRPr lang="zh-TW" altLang="en-US" sz="1600" dirty="0"/>
              </a:p>
            </p:txBody>
          </p:sp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9243141-E479-2708-5C10-DEB2995ED7D4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4</a:t>
                </a:r>
                <a:endParaRPr lang="zh-TW" altLang="en-US" sz="16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1F4875C-D91E-DD38-4752-7260727B56B1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2</a:t>
                </a:r>
                <a:endParaRPr lang="zh-TW" altLang="en-US" sz="16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C7FE51A9-79A2-87CD-7D8D-54423AE37316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3</a:t>
                </a:r>
                <a:endParaRPr lang="zh-TW" altLang="en-US" sz="16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8687EAC3-123C-46FA-0EF0-BCD0B20F820F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1</a:t>
                </a:r>
                <a:endParaRPr lang="zh-TW" altLang="en-US" sz="1600" dirty="0"/>
              </a:p>
            </p:txBody>
          </p:sp>
        </p:grpSp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AF35D11F-9E46-0341-2861-2F66309CC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03641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F50737-A636-08FF-97CB-A2B7574D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53D0D2B7-3ED6-8C89-9BA4-1A0E37D26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八調之變調規則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6ED41610-263C-A129-59BD-840ADBD89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5" y="4762500"/>
            <a:ext cx="5915025" cy="6193367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閩南語漢字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音節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單字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組合成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詞彙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，原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中之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，需進行「變調轉換」；</a:t>
            </a:r>
            <a:endParaRPr lang="en-US" altLang="zh-TW" sz="28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漢字為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單字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時，其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使用之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本調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；</a:t>
            </a:r>
            <a:endParaRPr lang="en-US" altLang="zh-TW" sz="28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漢字組成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詞彙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時，其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使用之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變調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 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22071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4F111B-54EE-C3AC-CBE3-89F89C5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979EEA3D-630F-98EE-6D80-98EC4AA09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74BB4B94-277E-AE36-62D2-D56406BE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9865824-5814-7968-481D-28C728AC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4753"/>
            <a:ext cx="6858000" cy="4784651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982A1588-13DB-21C2-F768-E49C1C969D6E}"/>
              </a:ext>
            </a:extLst>
          </p:cNvPr>
          <p:cNvGrpSpPr/>
          <p:nvPr/>
        </p:nvGrpSpPr>
        <p:grpSpPr>
          <a:xfrm>
            <a:off x="194093" y="6646888"/>
            <a:ext cx="6460711" cy="4659974"/>
            <a:chOff x="260486" y="6731325"/>
            <a:chExt cx="6460711" cy="4659974"/>
          </a:xfrm>
        </p:grpSpPr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8135E12B-235A-02E9-11F7-391A84144103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DC51DA27-90BD-FB90-4016-6A964684050C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54DFB5B-9783-A29E-C859-E25183A40EF4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13107E88-6390-5A9D-BA72-683868A5DAED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59A56B6-017C-0B1E-75A4-D59064065550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757FCF93-A23A-F18B-7C97-B5E3F3183858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DCC0A410-F629-347D-7E0C-9938276C420A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4BB4FABC-1A9E-B263-B5BF-DA9316C5B2C0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31E07A06-FF26-CC41-FEE9-EFE990373D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460F4DB4-689A-2508-B14D-E0774687E749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71F87973-18EA-E36B-36E2-F276D913A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2D83F892-00ED-12A0-0848-6033509693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E419B58A-09AD-664A-470C-A0D4AA6AE3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8E3CA348-AAAA-EDB8-BD11-0D5AE414248E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134A552B-20E2-DA83-02BD-5BBD4829E4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A1659973-9FE0-0A0E-4D49-01C56D98E599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7066E4C8-47E2-CD47-1512-9A9E2FE924FE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28919AC6-2384-7D53-9AFE-5E98C5964677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D9188AD8-A4F0-C34E-E80C-49B35D209F32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914BF15D-827E-4A00-999A-461EEA65B644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C48789F7-AF45-059F-BF67-9258C3AACF3E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26918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7665F3-18C9-98D5-3B74-C20E605F1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795D6C6-8C43-D783-FF34-BF64E500A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00917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變調規則助記圖（台灣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E71533AA-74CF-FC0B-BAD7-CD113CD1FFC0}"/>
              </a:ext>
            </a:extLst>
          </p:cNvPr>
          <p:cNvGrpSpPr/>
          <p:nvPr/>
        </p:nvGrpSpPr>
        <p:grpSpPr>
          <a:xfrm>
            <a:off x="263705" y="6395766"/>
            <a:ext cx="6460711" cy="4659974"/>
            <a:chOff x="260486" y="6731325"/>
            <a:chExt cx="6460711" cy="4659974"/>
          </a:xfrm>
        </p:grpSpPr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63B563CC-806D-C4B8-57CB-CCE7025F6DF4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173D53CE-71F5-8457-AB7C-F260851B1974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A6DE683-4D75-AA55-9F39-13AFEECD5981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F07FDD5C-CFA6-5F63-8E4E-780DE0831E6B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B54A6C8-9BD0-8897-CF09-C68684701203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9FEB6BD2-6ACC-7B3B-39AF-6219DAC975D9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FDCBB583-1651-099C-3D84-48554B471F13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F82BAA67-1460-1A3E-6555-D95C862A49A7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B02FD02C-4C25-1706-1D58-CDE1B8306A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B3B933D1-1A6F-88EA-D8A0-048F4777F48E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67665E2E-15D0-7BE4-FC8F-0A4F75DB2C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8B48E18E-E283-0F08-1507-C7F5CB3D73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4AA6107-6FD5-1E2B-1622-AF113CF99F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BEDBCE7E-302A-A2C6-4241-789BD881AAB8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54EBFC79-E6D4-79CD-1291-074EFF5C14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D98F4E56-ECBC-194E-50A0-C64CEE07AA43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02ED2D44-A24B-5389-23D7-794F6183BE50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B3E78991-C613-FF86-230A-DDA5661439F0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ED68361E-5148-8168-CFD2-5B603A80C1B6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F13EB8E4-4321-8BE9-FA38-649662C7AFDC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33925064-20F2-D06B-01E2-881A8C9AD2C8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  <p:pic>
        <p:nvPicPr>
          <p:cNvPr id="8" name="圖片 7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E3167808-452E-CA6E-31CB-7B57CA4DE4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36" y="1595644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25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D0E975-760C-35C8-4B2E-A64EF70ED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6EF38B12-E360-3E83-6FDF-512E05B0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384C079-CB5E-B8F8-BA61-B6295CA44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347A533F-66CC-2EC6-8E8B-D525B2066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19888"/>
            <a:ext cx="6858000" cy="385762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7035119B-036D-1EA1-4BF3-00A3248B5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5644944"/>
            <a:ext cx="6288428" cy="597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2982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90F7D3-104F-6083-826D-E0F73B99E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C7C1668-9FDE-DA98-ACE7-39DC87FB6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48C0786-1CD8-C7F7-CBC9-95BDF0C66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785018"/>
            <a:ext cx="6030568" cy="5035232"/>
          </a:xfrm>
          <a:prstGeom prst="rect">
            <a:avLst/>
          </a:prstGeom>
        </p:spPr>
      </p:pic>
      <p:pic>
        <p:nvPicPr>
          <p:cNvPr id="4" name="圖片 3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A9C32DAD-2434-E596-DA1E-A57EB51C5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2217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874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1920</TotalTime>
  <Words>1298</Words>
  <Application>Microsoft Office PowerPoint</Application>
  <PresentationFormat>寬螢幕</PresentationFormat>
  <Paragraphs>179</Paragraphs>
  <Slides>25</Slides>
  <Notes>15</Notes>
  <HiddenSlides>11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40" baseType="lpstr">
      <vt:lpstr>Chiron Sung HK ExtraLight</vt:lpstr>
      <vt:lpstr>Microsoft JhengHei UI</vt:lpstr>
      <vt:lpstr>Noto Sans TC Black</vt:lpstr>
      <vt:lpstr>Noto Sans TC Medium</vt:lpstr>
      <vt:lpstr>Noto Sans TC SemiBold</vt:lpstr>
      <vt:lpstr>Noto Serif TC</vt:lpstr>
      <vt:lpstr>Noto Serif TC Black</vt:lpstr>
      <vt:lpstr>Noto Serif TC SemiBold</vt:lpstr>
      <vt:lpstr>霞鶩文楷 TC Medium</vt:lpstr>
      <vt:lpstr>霞鶩文楷等寬 TC Medium</vt:lpstr>
      <vt:lpstr>Aptos</vt:lpstr>
      <vt:lpstr>Aptos Display</vt:lpstr>
      <vt:lpstr>Arial</vt:lpstr>
      <vt:lpstr>Lucida Fax</vt:lpstr>
      <vt:lpstr>Office 佈景主題</vt:lpstr>
      <vt:lpstr>十八音輸入方案 變調操作  v0.0.2</vt:lpstr>
      <vt:lpstr>四聲八調（八音）</vt:lpstr>
      <vt:lpstr>四聲八調之【調名】定義</vt:lpstr>
      <vt:lpstr>四聲八調-聲調排序規則</vt:lpstr>
      <vt:lpstr>四聲八調助記法</vt:lpstr>
      <vt:lpstr>變調</vt:lpstr>
      <vt:lpstr>八調之變調規則</vt:lpstr>
      <vt:lpstr>八調之變調規則（一）</vt:lpstr>
      <vt:lpstr>八調之變調規則（二）</vt:lpstr>
      <vt:lpstr>變調規則（台灣/廈門腔）</vt:lpstr>
      <vt:lpstr>變調實例（台灣/廈門腔）</vt:lpstr>
      <vt:lpstr>變調規則（台灣/廈門腔）</vt:lpstr>
      <vt:lpstr>變調標註</vt:lpstr>
      <vt:lpstr>PowerPoint 簡報</vt:lpstr>
      <vt:lpstr>台羅拼音：聲調（一）</vt:lpstr>
      <vt:lpstr>台羅拼音：聲調（二）</vt:lpstr>
      <vt:lpstr>變調實例（台灣/廈門腔）</vt:lpstr>
      <vt:lpstr>四聲</vt:lpstr>
      <vt:lpstr>台羅拼音之四聲八調</vt:lpstr>
      <vt:lpstr>四聲八調：W助記法</vt:lpstr>
      <vt:lpstr>八調之變調規則</vt:lpstr>
      <vt:lpstr>變調規則（台灣/廈門腔）</vt:lpstr>
      <vt:lpstr>變調規則助記圖（台灣/廈門腔）</vt:lpstr>
      <vt:lpstr>變調規則（台灣/廈門腔）</vt:lpstr>
      <vt:lpstr>變調實例（台灣/廈門腔）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95</cp:revision>
  <dcterms:created xsi:type="dcterms:W3CDTF">2025-07-23T04:08:23Z</dcterms:created>
  <dcterms:modified xsi:type="dcterms:W3CDTF">2026-09-25T11:31:42Z</dcterms:modified>
</cp:coreProperties>
</file>