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40"/>
  </p:notesMasterIdLst>
  <p:handoutMasterIdLst>
    <p:handoutMasterId r:id="rId41"/>
  </p:handoutMasterIdLst>
  <p:sldIdLst>
    <p:sldId id="306" r:id="rId5"/>
    <p:sldId id="401" r:id="rId6"/>
    <p:sldId id="368" r:id="rId7"/>
    <p:sldId id="423" r:id="rId8"/>
    <p:sldId id="430" r:id="rId9"/>
    <p:sldId id="429" r:id="rId10"/>
    <p:sldId id="424" r:id="rId11"/>
    <p:sldId id="341" r:id="rId12"/>
    <p:sldId id="340" r:id="rId13"/>
    <p:sldId id="418" r:id="rId14"/>
    <p:sldId id="417" r:id="rId15"/>
    <p:sldId id="428" r:id="rId16"/>
    <p:sldId id="419" r:id="rId17"/>
    <p:sldId id="420" r:id="rId18"/>
    <p:sldId id="421" r:id="rId19"/>
    <p:sldId id="425" r:id="rId20"/>
    <p:sldId id="426" r:id="rId21"/>
    <p:sldId id="427" r:id="rId22"/>
    <p:sldId id="416" r:id="rId23"/>
    <p:sldId id="328" r:id="rId24"/>
    <p:sldId id="400" r:id="rId25"/>
    <p:sldId id="393" r:id="rId26"/>
    <p:sldId id="395" r:id="rId27"/>
    <p:sldId id="396" r:id="rId28"/>
    <p:sldId id="322" r:id="rId29"/>
    <p:sldId id="327" r:id="rId30"/>
    <p:sldId id="392" r:id="rId31"/>
    <p:sldId id="343" r:id="rId32"/>
    <p:sldId id="336" r:id="rId33"/>
    <p:sldId id="415" r:id="rId34"/>
    <p:sldId id="390" r:id="rId35"/>
    <p:sldId id="389" r:id="rId36"/>
    <p:sldId id="391" r:id="rId37"/>
    <p:sldId id="397" r:id="rId38"/>
    <p:sldId id="422" r:id="rId39"/>
  </p:sldIdLst>
  <p:sldSz cx="10287000" cy="1828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A79FC7B-DB3A-4175-B274-F86BA01B6EA2}">
          <p14:sldIdLst>
            <p14:sldId id="306"/>
            <p14:sldId id="401"/>
            <p14:sldId id="368"/>
            <p14:sldId id="423"/>
            <p14:sldId id="430"/>
            <p14:sldId id="429"/>
            <p14:sldId id="424"/>
            <p14:sldId id="341"/>
            <p14:sldId id="340"/>
          </p14:sldIdLst>
        </p14:section>
        <p14:section name="簡介" id="{B4547B26-783E-416D-9651-6C97FCCC50C0}">
          <p14:sldIdLst>
            <p14:sldId id="418"/>
            <p14:sldId id="417"/>
            <p14:sldId id="428"/>
            <p14:sldId id="419"/>
            <p14:sldId id="420"/>
            <p14:sldId id="421"/>
          </p14:sldIdLst>
        </p14:section>
        <p14:section name="打字練習" id="{60194CF1-1988-407B-818E-E17CE82C3F24}">
          <p14:sldIdLst>
            <p14:sldId id="425"/>
            <p14:sldId id="426"/>
            <p14:sldId id="427"/>
          </p14:sldIdLst>
        </p14:section>
        <p14:section name="參考資料" id="{5E74FF4F-366B-4B8F-AB9E-DE6ED7E4457B}">
          <p14:sldIdLst>
            <p14:sldId id="416"/>
            <p14:sldId id="328"/>
            <p14:sldId id="400"/>
            <p14:sldId id="393"/>
            <p14:sldId id="395"/>
            <p14:sldId id="396"/>
            <p14:sldId id="322"/>
            <p14:sldId id="327"/>
            <p14:sldId id="392"/>
            <p14:sldId id="343"/>
            <p14:sldId id="336"/>
            <p14:sldId id="415"/>
            <p14:sldId id="390"/>
            <p14:sldId id="389"/>
            <p14:sldId id="391"/>
            <p14:sldId id="397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04" userDrawn="1">
          <p15:clr>
            <a:srgbClr val="A4A3A4"/>
          </p15:clr>
        </p15:guide>
        <p15:guide id="2" pos="337" userDrawn="1">
          <p15:clr>
            <a:srgbClr val="A4A3A4"/>
          </p15:clr>
        </p15:guide>
        <p15:guide id="3" orient="horz" pos="11339" userDrawn="1">
          <p15:clr>
            <a:srgbClr val="A4A3A4"/>
          </p15:clr>
        </p15:guide>
        <p15:guide id="4" pos="6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8138" autoAdjust="0"/>
  </p:normalViewPr>
  <p:slideViewPr>
    <p:cSldViewPr snapToGrid="0">
      <p:cViewPr varScale="1">
        <p:scale>
          <a:sx n="73" d="100"/>
          <a:sy n="73" d="100"/>
        </p:scale>
        <p:origin x="108" y="714"/>
      </p:cViewPr>
      <p:guideLst>
        <p:guide orient="horz" pos="1904"/>
        <p:guide pos="337"/>
        <p:guide orient="horz" pos="11339"/>
        <p:guide pos="6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C7BD883-E570-4B0F-9E18-F89D060514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7825A8-A57B-43B0-BA2C-78F0335611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4DE4D-4E38-4D8C-8D32-A26C2FA8CED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2026/8/24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404714-211C-45BF-8164-268C01DCBD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6E2E20-ED21-467B-ABCD-FF8842D9D1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B8736-D8EB-47F3-A4C4-7D5F34ACE92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4491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EB2F747-81C0-41F9-A53E-9239588F4D56}" type="datetime1">
              <a:rPr lang="zh-TW" altLang="en-US" smtClean="0"/>
              <a:pPr/>
              <a:t>2026/8/24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939589-3E79-4C82-AA4A-FE78234FAA59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420D-8D7C-50E4-A87A-0B909ED5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5442DE-CD47-ED48-98C6-50B5FE41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B460EB-20D2-C00F-B52C-2D0DE8006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B48A9F-0F1C-7F72-9FDE-E5D2DBB0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4299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ED77-78B0-5115-2B51-F4F6836E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34BAD5-FDAA-D4AB-1A66-B0C7CC3D8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F76D6A-8292-9179-37AA-B601DCCDB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B10692-5DF7-6C53-8C1A-8BF5C2F25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3600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8D3B-D726-2DDA-0170-B80B0BA0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B22534-B2D4-5E9D-5046-F37740F19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BDF90C-6D33-50BC-054F-CC1AEC523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CE4A59-3378-79CD-93DA-365A06247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8202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C246-2F5C-1F76-C5C4-035F4011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DD88D5-7EEC-01F5-64EB-616F2912C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926FD2-816B-B156-E797-F0F049775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021790-F861-CBA8-6259-0FB845A7F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5376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3756-628B-7273-6B57-1AA339FC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9C8100-A6E5-2671-EE82-A2A7493A0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5BF6112-3208-384C-DD17-5ED7F18F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91D248-8F53-6DBF-66D2-51734C9F5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61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09D-CCD9-3589-1397-98D0C30E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16F4A6B-7171-3F20-26E9-04BDB13E6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8D876B-6ADF-FD7E-07AD-0EEAEC44A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06CF1D-0C4D-ED44-9935-91B0AF076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509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E6D8-D5C7-8D92-FA7E-F27F6D4B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AFC80D-CFA7-C0CC-76FB-8593B46A2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43F3A9-B6AB-AE88-4A5B-F04E100DB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五十字母清單，熟練到：視字知韻。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分：舒聲韻、促聲韻。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嘉：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ee [ɛ]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稽：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伽：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 [e]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[ẽ]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enn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ennh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[ɛ̃]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檜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檜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ueiʔ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[ɔ] 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oo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ou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onn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õu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ɔ̃ʔ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onnh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字韻棄用，併入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ik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ik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ɛk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222BEC-CC1B-E06C-E27C-7297884BA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0994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227A-316E-7FDC-D1C7-A9067030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0BE7C88-4D5C-7A1D-C0F2-64C91D6D8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750F7E-5BA1-1A28-176C-084339E0C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5E2077-417F-3989-5E7C-90F49F893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1272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776B-F45B-5CB5-1E59-D4611AF8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2DA2DA-E1AF-D564-9585-EED231C96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1E0DC7-52B6-FC6E-BAA1-642702CEB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ED3B82-A851-3859-AF62-8D70A4FED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3902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CC8C5-3A2C-B367-2933-1942BD84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31A189-53F7-9B0E-DB2C-6A601FF1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005DB2-D954-FE37-3F7A-849079FC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B9D9C3-77C1-6370-1A8E-8585860AB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53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F3AC9-A498-2BBC-7CC6-27FAFE92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242872D-7D5F-B6E0-006F-671B32CA7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0187437-DF03-529B-744E-1C67311A8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C5D527-879B-7633-C553-A28D06F6B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3370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6ABE-221C-9407-18C3-8F2EA892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33890FF-4E1C-9513-546C-46FC59611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1C57D9A-9FD3-4972-9146-83587725F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0389BD-0228-0DEF-F075-9E8A61826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03405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A5C1-9A02-E466-C49F-71903678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92753B-20A4-1E33-0BAD-6C4BEEDEC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27E192-DBAF-ABD8-F19E-C656F9C69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9DE5A0-55C8-A197-1872-252DE9D65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9961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EFD7-6C83-608C-5E68-AE0D2A5A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449973-2C66-6DAE-32A6-912547D64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13E60B-EB4B-0B55-DC81-D2274FABD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4D9616-2DE7-7621-E94B-C34AEED48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3509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FACE-05C5-F68A-3700-75753A2F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D749DE-208F-8893-82AE-EF45D0B8B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4ACCDC-3AD3-3607-CFA9-DF6C817E2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7A99F1-23F6-B567-7C57-3BE69F1A0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5304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051B-C6DE-3DD1-B458-5D2E2397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69F90A-9C8A-4DCA-7DEB-C4E6EDDA5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C20728-9692-6C03-73C4-84A554682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5730E7-4D97-26D9-88DE-DB83F5C3F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1787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2EE1-5949-10B9-9FD9-E3465718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949397-8D0A-47C7-4668-1A8C64E9B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6A0401-9EC6-B1DF-8900-6E454AAC3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經過先前的介紹，在此先做一總結：欲熟悉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十五音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之使用，作為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漢字讀音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標注工具，首先需學習的四大目標為：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字母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 50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字（韻母）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50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字母分八音（音調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/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聲調）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切音 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15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" action="ppaction://noaction"/>
              </a:rPr>
              <a:t>字（聲母）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呼十五音法</a:t>
            </a:r>
            <a:endParaRPr lang="zh-TW" altLang="en-US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5D935E-F10B-BF89-2C43-65488248F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6729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9C67-0039-5EF7-6B95-3DDF7B94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52B37-5039-8CD5-9E3B-3FA46F525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0B6E29-237E-6F91-4427-0EA31A7F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列舉：每個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舒聲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促聲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韻；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現今優勢腔之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國際音標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雅俗通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國際音標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拼音字母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：屬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羅馬字母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拼音字母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漢語拼音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美語自然發音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閩拼方案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注音二式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注音符號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方音符號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6D5FB6-FB47-535B-BD2E-7D31409CF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5207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4A92-3B4F-FC59-A87C-864F0519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A6BEE9-F459-5A48-20C7-AC7BE52CD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D38C5E-B143-324E-FF48-82BA7F5D2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C83C70-6871-02E8-D889-C90C0A92D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3506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D7D8-5242-360B-12F8-C0F39DF6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310C39-6ED1-16BF-D954-23AEED270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3A3505-B917-3643-0BE5-6EDC7F699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2793E3-6601-6C4B-4EF4-CC26D6E57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0758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F43A-6717-595D-2001-E5293728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ACD0835-D375-3155-C752-8C188B807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CFB9C2-679D-DCDF-DFFE-90075F362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3DC88D-C231-90A1-CA40-EC0E30D1B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4660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F0E3-582F-DE81-A589-EF5A2D0E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3412F-1E4C-ECB8-898D-2415A1DF4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3EFAF0-CB68-42C7-7F5A-2B85CB1D8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AB2369-DB4F-6AD9-C1E7-B5779EA7B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6478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D9EE-05EA-A43D-4E66-028EBC0B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A046A1-F800-7766-17DB-9A968F94E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D4F594-91D6-6734-334F-0BA81BA2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八調五度標記助記法：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1 7 3 2 5 4 8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/1</a:t>
            </a: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陽去調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/7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陰去調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/3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高降調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上声調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/2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低升調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/5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低促調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陰入調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高促調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陽入調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/8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C8772B-74B4-DDED-D4B7-76FBC277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796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A496-0043-FF05-3273-676162EE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7F5233-344E-DD04-9B73-3488A774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402C7D-92AF-5CF5-0FE3-06CD946F8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柳分：柳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(l)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、耐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(n)</a:t>
            </a:r>
          </a:p>
          <a:p>
            <a:pPr marL="228600" indent="-228600"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門分：門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(b)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(m)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語分：語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(ng 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、雅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(g)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6713A4-E91C-A842-B190-E5FA3856B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3747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24AB-0236-7717-B79B-E1533F34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7CBE05-9916-95CD-D5B7-EBBD14ABA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6BAD35-8229-8F7C-B572-F64554D7B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C5DB17-ADB6-824A-82CB-F8946F5A1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72635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6937-5ECA-BDB9-5540-BBA6A867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124FE2-28F6-FB85-DB72-CF96AD15F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C30620-1C45-16D2-1477-80D1D8CE0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5522C9-006A-D2FB-8977-55F8B7709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5580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6A77-DB83-D80A-6158-4778799E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3D8308-DB22-5E2B-CFA2-4F2DDE2F5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3BE636-C03E-0F8A-9D77-142D93538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A65088-46C5-21E0-C744-BB05F9E04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02378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90C1-E537-FE6B-EC0A-73935A65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844790-F1DE-0E68-C2FF-E303C9CF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7E4F3D-57BE-0BF7-12C5-1BAE5FE0C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2B920E-CDC8-93A8-4EC8-F09A3DD6A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65616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2FEB-4F80-8EF7-FB40-6A8FA90C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7928F57-8089-D12A-758F-E602884BD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14239B-2450-8CEF-4A54-D43B814FD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AC591D-965D-C227-59B4-A573688EA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3247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BFCA-AEBE-5CE9-E6D8-6936D0BF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E86BF5-C82A-62FC-C8F4-0A86884C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0ECE38-FDD4-087F-E11C-30E07D408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0965BF-7A00-4358-EE05-9296FEF84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4667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A584-6D39-E4B7-3B19-4B0F1C1E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305888-26D9-CA66-6B5B-EA08F806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8B232F-E4D3-B1E8-B2D9-FC7B0D66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62D498-5E31-A63B-C5F3-69BD1BA0A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5726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F709-6F9E-C193-C9CA-B3F325F7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0AB820-FC74-035F-1279-942F1657E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B5D9A4-4AD3-B272-9F4B-8E971E6A7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8EACFB-14B2-5524-50F4-6BA5BFD6D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91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875" y="2992968"/>
            <a:ext cx="7715250" cy="6366933"/>
          </a:xfrm>
        </p:spPr>
        <p:txBody>
          <a:bodyPr rtlCol="0" anchor="b"/>
          <a:lstStyle>
            <a:lvl1pPr algn="l">
              <a:defRPr sz="5063" b="1" i="0" cap="all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5875" y="9605435"/>
            <a:ext cx="7715250" cy="4415365"/>
          </a:xfrm>
        </p:spPr>
        <p:txBody>
          <a:bodyPr rtlCol="0"/>
          <a:lstStyle>
            <a:lvl1pPr marL="0" indent="0" algn="l">
              <a:buNone/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604032" y="2970801"/>
            <a:ext cx="0" cy="1529503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 2 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565" y="1584960"/>
            <a:ext cx="5292662" cy="7583424"/>
          </a:xfrm>
        </p:spPr>
        <p:txBody>
          <a:bodyPr rtlCol="0" anchor="b"/>
          <a:lstStyle>
            <a:lvl1pPr algn="l">
              <a:defRPr sz="4557" b="1" i="0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0309" y="12533376"/>
            <a:ext cx="4297394" cy="3194304"/>
          </a:xfrm>
        </p:spPr>
        <p:txBody>
          <a:bodyPr rtlCol="0">
            <a:normAutofit/>
          </a:bodyPr>
          <a:lstStyle>
            <a:lvl1pPr marL="0" indent="0" algn="r">
              <a:buNone/>
              <a:defRPr sz="1688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097940" y="9323525"/>
            <a:ext cx="0" cy="8940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圖形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6933752" y="7930240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圖形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6631033" y="7318789"/>
            <a:ext cx="117313" cy="37076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圖形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6617921" y="8528708"/>
            <a:ext cx="107758" cy="340568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圖片版面配置區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52927" y="6746823"/>
            <a:ext cx="3128601" cy="9887923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977" y="1560576"/>
            <a:ext cx="4922330" cy="6071616"/>
          </a:xfrm>
        </p:spPr>
        <p:txBody>
          <a:bodyPr rtlCol="0" anchor="b"/>
          <a:lstStyle>
            <a:lvl1pPr algn="r">
              <a:defRPr sz="5063" b="1" cap="all" spc="338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004899" y="5502206"/>
            <a:ext cx="7437120" cy="30807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5194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722346" y="9341419"/>
            <a:ext cx="0" cy="892290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977" y="8339328"/>
            <a:ext cx="4922330" cy="8314944"/>
          </a:xfrm>
        </p:spPr>
        <p:txBody>
          <a:bodyPr rtlCol="0"/>
          <a:lstStyle>
            <a:lvl1pPr marL="0" indent="0" algn="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圖形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003926" y="7360739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形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3701206" y="6749287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圖形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409051" y="16084192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7595" y="4441387"/>
            <a:ext cx="3600248" cy="1137858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42" y="3560064"/>
            <a:ext cx="5223224" cy="3145536"/>
          </a:xfrm>
        </p:spPr>
        <p:txBody>
          <a:bodyPr lIns="91440" tIns="45720" rIns="91440" bIns="45720" rtlCol="0" anchor="b"/>
          <a:lstStyle>
            <a:lvl1pPr>
              <a:defRPr sz="455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18" y="7534656"/>
            <a:ext cx="5223224" cy="892454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92893"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85785"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578678"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9983" y="1658113"/>
            <a:ext cx="3471863" cy="973667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2150587"/>
            <a:ext cx="6668766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875" y="3901440"/>
            <a:ext cx="7715250" cy="6242304"/>
          </a:xfrm>
        </p:spPr>
        <p:txBody>
          <a:bodyPr rtlCol="0" anchor="b">
            <a:normAutofit/>
          </a:bodyPr>
          <a:lstStyle>
            <a:lvl1pPr algn="ctr">
              <a:defRPr sz="5063" b="1" i="0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8447" y="10290048"/>
            <a:ext cx="7715250" cy="3535680"/>
          </a:xfrm>
        </p:spPr>
        <p:txBody>
          <a:bodyPr rtlCol="0">
            <a:normAutofit/>
          </a:bodyPr>
          <a:lstStyle>
            <a:lvl1pPr marL="0" indent="0" algn="ctr">
              <a:buNone/>
              <a:defRPr sz="1688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圖形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9089099" y="8144957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圖形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9048683" y="6708903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圖形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9302204" y="7433525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圖形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064702" y="7022528"/>
            <a:ext cx="127859" cy="40409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圖形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897795" y="8222236"/>
            <a:ext cx="80797" cy="255357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形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192561" y="9314321"/>
            <a:ext cx="91652" cy="289667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55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960" y="2243328"/>
            <a:ext cx="3741896" cy="863193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844"/>
              </a:spcBef>
              <a:defRPr sz="3038" b="0" i="0" cap="none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2959" y="11996928"/>
            <a:ext cx="3741892" cy="136126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5044726" y="4575614"/>
            <a:ext cx="9460992" cy="308074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9775824" y="9651392"/>
            <a:ext cx="0" cy="863660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4876800" cy="1828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9173" y="804672"/>
            <a:ext cx="4405408" cy="167030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61" y="973668"/>
            <a:ext cx="9088565" cy="3534835"/>
          </a:xfrm>
        </p:spPr>
        <p:txBody>
          <a:bodyPr rtlCol="0"/>
          <a:lstStyle>
            <a:lvl1pPr>
              <a:defRPr sz="4557" b="1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61" y="4868333"/>
            <a:ext cx="9088565" cy="116035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16950268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75183" y="2243329"/>
            <a:ext cx="3062954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圖形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9451910" y="917555"/>
            <a:ext cx="127859" cy="40409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圖形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9756401" y="1575761"/>
            <a:ext cx="91652" cy="289667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009" y="4868333"/>
            <a:ext cx="3842195" cy="11603568"/>
          </a:xfrm>
        </p:spPr>
        <p:txBody>
          <a:bodyPr rtlCol="0">
            <a:normAutofit/>
          </a:bodyPr>
          <a:lstStyle>
            <a:lvl1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4715" y="4868333"/>
            <a:ext cx="3842195" cy="11603568"/>
          </a:xfrm>
        </p:spPr>
        <p:txBody>
          <a:bodyPr rtlCol="0">
            <a:normAutofit/>
          </a:bodyPr>
          <a:lstStyle>
            <a:lvl1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形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圖形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1" y="973668"/>
            <a:ext cx="8872538" cy="353483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009" y="4483101"/>
            <a:ext cx="3842195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09" y="6680200"/>
            <a:ext cx="3842195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4715" y="4483101"/>
            <a:ext cx="3842195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715" y="6680200"/>
            <a:ext cx="3842195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圖形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圖形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1" y="973668"/>
            <a:ext cx="8872538" cy="353483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009" y="448310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09" y="6680200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04811" y="448310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04811" y="6680200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圖形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圖形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文字預留位置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8328" y="471805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7" name="內容版面配置區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8328" y="6915149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2960" y="2145792"/>
            <a:ext cx="3741896" cy="2365248"/>
          </a:xfrm>
        </p:spPr>
        <p:txBody>
          <a:bodyPr rtlCol="0" anchor="b"/>
          <a:lstStyle>
            <a:lvl1pPr algn="l">
              <a:defRPr sz="4557" b="0" i="0" cap="none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2958" y="4803648"/>
            <a:ext cx="3741896" cy="126796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5044726" y="4575614"/>
            <a:ext cx="9460992" cy="308074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9775824" y="9651392"/>
            <a:ext cx="0" cy="863660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4876800" cy="1828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9173" y="8290560"/>
            <a:ext cx="4405408" cy="919276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圖片版面配置區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9173" y="804672"/>
            <a:ext cx="2075402" cy="668121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1" name="圖片版面配置區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69178" y="804672"/>
            <a:ext cx="2075402" cy="668121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圖片版面配置區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99438" y="1086666"/>
            <a:ext cx="1647235" cy="5206077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2" name="圖片版面配置區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7042" y="5260216"/>
            <a:ext cx="1932242" cy="606267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1" name="圖片版面配置區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07737" y="11696832"/>
            <a:ext cx="2631903" cy="6567493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0" name="圖片版面配置區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2139" y="10717285"/>
            <a:ext cx="3251948" cy="7570715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608" y="1560576"/>
            <a:ext cx="4451699" cy="6071616"/>
          </a:xfrm>
        </p:spPr>
        <p:txBody>
          <a:bodyPr rtlCol="0" anchor="b"/>
          <a:lstStyle>
            <a:lvl1pPr algn="r">
              <a:defRPr sz="4050" b="1" cap="all" spc="338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004899" y="5502206"/>
            <a:ext cx="7437120" cy="30807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5194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圖形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242309" y="4958759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圖形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1699754" y="8391645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圖形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4560401" y="12022120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722346" y="9341419"/>
            <a:ext cx="0" cy="892290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0608" y="8339328"/>
            <a:ext cx="4451699" cy="2999232"/>
          </a:xfrm>
        </p:spPr>
        <p:txBody>
          <a:bodyPr rtlCol="0"/>
          <a:lstStyle>
            <a:lvl1pPr marL="0" indent="0" algn="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​​(S)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rtlCol="0" anchor="b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315" y="2633135"/>
            <a:ext cx="5207794" cy="12996333"/>
          </a:xfrm>
        </p:spPr>
        <p:txBody>
          <a:bodyPr rtlCol="0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36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 rtlCol="0"/>
          <a:lstStyle>
            <a:lvl1pPr marL="0" indent="0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rtlCol="0" anchor="b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預留位置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3315" y="2633135"/>
            <a:ext cx="5207794" cy="12996333"/>
          </a:xfrm>
        </p:spPr>
        <p:txBody>
          <a:bodyPr rtlCol="0"/>
          <a:lstStyle>
            <a:lvl1pPr marL="0" indent="0">
              <a:buNone/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 rtlCol="0"/>
          <a:lstStyle>
            <a:lvl1pPr marL="0" indent="0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31" y="973668"/>
            <a:ext cx="887253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231" y="4868333"/>
            <a:ext cx="887253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7231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7569" y="16950268"/>
            <a:ext cx="347186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194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0.xml"/><Relationship Id="rId5" Type="http://schemas.openxmlformats.org/officeDocument/2006/relationships/slide" Target="slide8.xml"/><Relationship Id="rId4" Type="http://schemas.openxmlformats.org/officeDocument/2006/relationships/slide" Target="slide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十五音</a:t>
            </a:r>
            <a:r>
              <a:rPr lang="zh-TW" altLang="en-US" dirty="0"/>
              <a:t>輸入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法簡介 </a:t>
            </a:r>
            <a:r>
              <a:rPr lang="en-US" altLang="zh-TW" sz="2400" dirty="0" err="1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v0.1</a:t>
            </a:r>
            <a:endParaRPr lang="zh-TW" altLang="en-US" dirty="0">
              <a:solidFill>
                <a:schemeClr val="accent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CDEFA4C-2C00-3A0D-5222-7FFC2952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799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B3598B3-2460-72D4-D7E5-981552A2CBE9}"/>
              </a:ext>
            </a:extLst>
          </p:cNvPr>
          <p:cNvSpPr txBox="1"/>
          <p:nvPr/>
        </p:nvSpPr>
        <p:spPr>
          <a:xfrm>
            <a:off x="1231106" y="8231624"/>
            <a:ext cx="7824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7200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十五音輸入法簡介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0B03982-2E3F-AE2B-364F-ADE49729AAC8}"/>
              </a:ext>
            </a:extLst>
          </p:cNvPr>
          <p:cNvSpPr txBox="1"/>
          <p:nvPr/>
        </p:nvSpPr>
        <p:spPr>
          <a:xfrm>
            <a:off x="2570843" y="15183339"/>
            <a:ext cx="5145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rgbClr val="FFFF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 0.1</a:t>
            </a:r>
            <a:endParaRPr lang="zh-TW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0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E677-309A-15E1-6359-B7FD01BD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90B4DA8-FDE8-201F-361E-84D9C0D0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AAB036-A6D1-C811-22C0-BCA29211CE47}"/>
              </a:ext>
            </a:extLst>
          </p:cNvPr>
          <p:cNvSpPr txBox="1"/>
          <p:nvPr/>
        </p:nvSpPr>
        <p:spPr>
          <a:xfrm>
            <a:off x="4084446" y="5923406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做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8FA5F53-AB84-6D04-29CB-F3B218927BE2}"/>
              </a:ext>
            </a:extLst>
          </p:cNvPr>
          <p:cNvSpPr txBox="1"/>
          <p:nvPr/>
        </p:nvSpPr>
        <p:spPr>
          <a:xfrm>
            <a:off x="1081087" y="13136202"/>
            <a:ext cx="77102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29" indent="-571529" defTabSz="12573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ㄗ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ㄜ</a:t>
            </a:r>
            <a:r>
              <a:rPr lang="zh-CN" altLang="en-US" sz="3600" b="1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˪</a:t>
            </a:r>
            <a:endParaRPr lang="zh-TW" altLang="en-US" sz="3600" b="1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29" indent="-571529" defTabSz="12573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ts</a:t>
            </a:r>
            <a:r>
              <a:rPr lang="zh-TW" altLang="zh-TW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cs typeface="Charis SIL" panose="02000500060000020004" pitchFamily="2" charset="0"/>
              </a:rPr>
              <a:t>ò</a:t>
            </a:r>
            <a:r>
              <a:rPr lang="zh-TW" altLang="en-US" sz="3600" b="1" dirty="0">
                <a:solidFill>
                  <a:srgbClr val="4D4E51"/>
                </a:solidFill>
                <a:latin typeface="Arial" panose="020B0604020202020204" pitchFamily="34" charset="0"/>
              </a:rPr>
              <a:t>（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sz="3600" dirty="0" err="1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ts</a:t>
            </a:r>
            <a:r>
              <a:rPr lang="en-US" altLang="zh-TW" sz="3600" dirty="0" err="1">
                <a:solidFill>
                  <a:schemeClr val="accent2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o</a:t>
            </a:r>
            <a:r>
              <a:rPr lang="en-US" altLang="zh-TW" sz="3600" dirty="0" err="1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3600" b="1" dirty="0">
                <a:solidFill>
                  <a:srgbClr val="4D4E51"/>
                </a:solidFill>
                <a:latin typeface="Arial" panose="020B0604020202020204" pitchFamily="34" charset="0"/>
              </a:rPr>
              <a:t>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29" indent="-571529" defTabSz="12573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台語注音二式：</a:t>
            </a:r>
            <a:r>
              <a:rPr lang="en-US" altLang="zh-TW" sz="3600" dirty="0" err="1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z</a:t>
            </a:r>
            <a:r>
              <a:rPr lang="en-US" altLang="zh-TW" sz="3600" dirty="0" err="1">
                <a:solidFill>
                  <a:schemeClr val="accent2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or</a:t>
            </a:r>
            <a:r>
              <a:rPr lang="en-US" altLang="zh-TW" sz="3600" dirty="0" err="1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3</a:t>
            </a:r>
            <a:endParaRPr lang="en-US" altLang="zh-TW" sz="3600" baseline="300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F6E5F4-2F16-2BE9-1D2B-9DD8F87A327F}"/>
              </a:ext>
            </a:extLst>
          </p:cNvPr>
          <p:cNvSpPr txBox="1"/>
          <p:nvPr/>
        </p:nvSpPr>
        <p:spPr>
          <a:xfrm>
            <a:off x="5849799" y="6407761"/>
            <a:ext cx="830997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ㄗ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ㄜ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E414BE-0CD8-A70D-DB23-9783ACC00679}"/>
              </a:ext>
            </a:extLst>
          </p:cNvPr>
          <p:cNvSpPr txBox="1"/>
          <p:nvPr/>
        </p:nvSpPr>
        <p:spPr>
          <a:xfrm>
            <a:off x="3918806" y="794286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z</a:t>
            </a:r>
            <a:r>
              <a:rPr lang="en-US" altLang="zh-TW" sz="36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or</a:t>
            </a:r>
            <a:r>
              <a:rPr lang="en-US" altLang="zh-TW" sz="3600" baseline="30000" dirty="0" err="1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  <a:endParaRPr lang="zh-TW" altLang="en-US" sz="3600" baseline="300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B52540-4E74-18A7-8883-C81AEE98B044}"/>
              </a:ext>
            </a:extLst>
          </p:cNvPr>
          <p:cNvSpPr txBox="1"/>
          <p:nvPr/>
        </p:nvSpPr>
        <p:spPr>
          <a:xfrm>
            <a:off x="953690" y="12446905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89125"/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9A6B4A1-546A-08C3-98FE-F99123CDB9B2}"/>
              </a:ext>
            </a:extLst>
          </p:cNvPr>
          <p:cNvSpPr txBox="1"/>
          <p:nvPr/>
        </p:nvSpPr>
        <p:spPr>
          <a:xfrm>
            <a:off x="3918806" y="522301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en-US" altLang="zh-TW" sz="36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ts</a:t>
            </a:r>
            <a:r>
              <a:rPr lang="zh-TW" altLang="zh-TW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cs typeface="Charis SIL" panose="02000500060000020004" pitchFamily="2" charset="0"/>
              </a:rPr>
              <a:t>ò</a:t>
            </a:r>
            <a:r>
              <a:rPr lang="en-US" altLang="zh-TW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 </a:t>
            </a:r>
            <a:endParaRPr lang="zh-TW" altLang="en-US" sz="36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IL" panose="02000500060000020004" pitchFamily="2" charset="0"/>
              <a:cs typeface="Charis SIL" panose="02000500060000020004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171564A-D963-48D2-4ABD-491C152439F9}"/>
              </a:ext>
            </a:extLst>
          </p:cNvPr>
          <p:cNvSpPr txBox="1"/>
          <p:nvPr/>
        </p:nvSpPr>
        <p:spPr>
          <a:xfrm>
            <a:off x="6223378" y="6875178"/>
            <a:ext cx="830997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˪ </a:t>
            </a:r>
            <a:endParaRPr lang="zh-TW" altLang="en-US" sz="3600" b="1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AAE250-B75E-0959-110B-492296173F04}"/>
              </a:ext>
            </a:extLst>
          </p:cNvPr>
          <p:cNvSpPr txBox="1"/>
          <p:nvPr/>
        </p:nvSpPr>
        <p:spPr>
          <a:xfrm>
            <a:off x="3315980" y="6019898"/>
            <a:ext cx="830997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曾</a:t>
            </a:r>
          </a:p>
        </p:txBody>
      </p:sp>
      <p:sp>
        <p:nvSpPr>
          <p:cNvPr id="6" name="圖說文字: 折線 5">
            <a:extLst>
              <a:ext uri="{FF2B5EF4-FFF2-40B4-BE49-F238E27FC236}">
                <a16:creationId xmlns:a16="http://schemas.microsoft.com/office/drawing/2014/main" id="{375B8A2B-1CF7-47EA-A074-5130CF6F8596}"/>
              </a:ext>
            </a:extLst>
          </p:cNvPr>
          <p:cNvSpPr/>
          <p:nvPr/>
        </p:nvSpPr>
        <p:spPr>
          <a:xfrm>
            <a:off x="2085975" y="2643306"/>
            <a:ext cx="6115050" cy="973665"/>
          </a:xfrm>
          <a:prstGeom prst="borderCallout2">
            <a:avLst>
              <a:gd name="adj1" fmla="val 102392"/>
              <a:gd name="adj2" fmla="val 44134"/>
              <a:gd name="adj3" fmla="val 127337"/>
              <a:gd name="adj4" fmla="val 50320"/>
              <a:gd name="adj5" fmla="val 221087"/>
              <a:gd name="adj6" fmla="val 50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台羅拼音</a:t>
            </a:r>
          </a:p>
        </p:txBody>
      </p:sp>
      <p:sp>
        <p:nvSpPr>
          <p:cNvPr id="8" name="圖說文字: 折線 7">
            <a:extLst>
              <a:ext uri="{FF2B5EF4-FFF2-40B4-BE49-F238E27FC236}">
                <a16:creationId xmlns:a16="http://schemas.microsoft.com/office/drawing/2014/main" id="{880373AA-7FDD-63D8-3F68-D7EF7BEE7A7C}"/>
              </a:ext>
            </a:extLst>
          </p:cNvPr>
          <p:cNvSpPr/>
          <p:nvPr/>
        </p:nvSpPr>
        <p:spPr>
          <a:xfrm>
            <a:off x="2085975" y="10779717"/>
            <a:ext cx="6115050" cy="973665"/>
          </a:xfrm>
          <a:prstGeom prst="borderCallout2">
            <a:avLst>
              <a:gd name="adj1" fmla="val -326"/>
              <a:gd name="adj2" fmla="val 44368"/>
              <a:gd name="adj3" fmla="val -25272"/>
              <a:gd name="adj4" fmla="val 50553"/>
              <a:gd name="adj5" fmla="val -128153"/>
              <a:gd name="adj6" fmla="val 504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台語注音二式</a:t>
            </a:r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8558CDC0-907B-87C0-C0B7-D40DF81263C4}"/>
              </a:ext>
            </a:extLst>
          </p:cNvPr>
          <p:cNvSpPr/>
          <p:nvPr/>
        </p:nvSpPr>
        <p:spPr>
          <a:xfrm>
            <a:off x="8620507" y="3851879"/>
            <a:ext cx="737807" cy="6743700"/>
          </a:xfrm>
          <a:prstGeom prst="borderCallout2">
            <a:avLst>
              <a:gd name="adj1" fmla="val 55358"/>
              <a:gd name="adj2" fmla="val -2342"/>
              <a:gd name="adj3" fmla="val 50218"/>
              <a:gd name="adj4" fmla="val -61996"/>
              <a:gd name="adj5" fmla="val 50324"/>
              <a:gd name="adj6" fmla="val -145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方音符號</a:t>
            </a:r>
          </a:p>
        </p:txBody>
      </p:sp>
      <p:sp>
        <p:nvSpPr>
          <p:cNvPr id="11" name="圖說文字: 折線 10">
            <a:extLst>
              <a:ext uri="{FF2B5EF4-FFF2-40B4-BE49-F238E27FC236}">
                <a16:creationId xmlns:a16="http://schemas.microsoft.com/office/drawing/2014/main" id="{60A27480-03E9-6431-8520-C86DE5D90A36}"/>
              </a:ext>
            </a:extLst>
          </p:cNvPr>
          <p:cNvSpPr/>
          <p:nvPr/>
        </p:nvSpPr>
        <p:spPr>
          <a:xfrm>
            <a:off x="928688" y="3851880"/>
            <a:ext cx="737807" cy="6743700"/>
          </a:xfrm>
          <a:prstGeom prst="borderCallout2">
            <a:avLst>
              <a:gd name="adj1" fmla="val 43917"/>
              <a:gd name="adj2" fmla="val 92546"/>
              <a:gd name="adj3" fmla="val 50642"/>
              <a:gd name="adj4" fmla="val 158764"/>
              <a:gd name="adj5" fmla="val 50536"/>
              <a:gd name="adj6" fmla="val 2380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十五音反切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AEF1CCE-534D-1794-023C-E45E3A0C8642}"/>
              </a:ext>
            </a:extLst>
          </p:cNvPr>
          <p:cNvSpPr txBox="1"/>
          <p:nvPr/>
        </p:nvSpPr>
        <p:spPr>
          <a:xfrm>
            <a:off x="928688" y="15523625"/>
            <a:ext cx="8684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424863">
              <a:tabLst>
                <a:tab pos="1436400" algn="l"/>
                <a:tab pos="2340000" algn="ctr"/>
                <a:tab pos="4140000" algn="ctr"/>
                <a:tab pos="5940000" algn="ctr"/>
              </a:tabLst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 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0">
              <a:tabLst>
                <a:tab pos="2416175" algn="ctr"/>
                <a:tab pos="4037013" algn="ctr"/>
                <a:tab pos="5656263" algn="ctr"/>
              </a:tabLst>
            </a:pP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（韻母）</a:t>
            </a:r>
            <a:r>
              <a:rPr lang="en-US" altLang="zh-TW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（音調）</a:t>
            </a: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（聲母）</a:t>
            </a: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endParaRPr lang="zh-TW" altLang="en-US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7B99742-EA42-7E46-2210-CFA1BD82E50C}"/>
              </a:ext>
            </a:extLst>
          </p:cNvPr>
          <p:cNvSpPr txBox="1"/>
          <p:nvPr/>
        </p:nvSpPr>
        <p:spPr>
          <a:xfrm>
            <a:off x="1081087" y="16551476"/>
            <a:ext cx="8751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29" indent="-5715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曾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252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DBCD4-FA5A-A735-CB3C-8DBA93FB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A652D7C-5B2D-67FE-A866-3A75113D1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7EFCF2C-6B14-1D1F-0F7D-82917F4FF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96272"/>
              </p:ext>
            </p:extLst>
          </p:nvPr>
        </p:nvGraphicFramePr>
        <p:xfrm>
          <a:off x="504332" y="7344072"/>
          <a:ext cx="9211168" cy="593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644">
                  <a:extLst>
                    <a:ext uri="{9D8B030D-6E8A-4147-A177-3AD203B41FA5}">
                      <a16:colId xmlns:a16="http://schemas.microsoft.com/office/drawing/2014/main" val="935015548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1456152819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4194578176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2276360943"/>
                    </a:ext>
                  </a:extLst>
                </a:gridCol>
              </a:tblGrid>
              <a:tr h="1186097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注音符號</a:t>
                      </a:r>
                      <a:r>
                        <a:rPr lang="en-US" altLang="zh-TW" sz="2400" dirty="0"/>
                        <a:t>/</a:t>
                      </a:r>
                      <a:r>
                        <a:rPr lang="zh-TW" altLang="en-US" sz="2400" dirty="0"/>
                        <a:t>拼音字母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字母</a:t>
                      </a:r>
                      <a:r>
                        <a:rPr lang="en-US" altLang="zh-TW" sz="2400" dirty="0"/>
                        <a:t>50</a:t>
                      </a:r>
                      <a:r>
                        <a:rPr lang="zh-TW" altLang="en-US" sz="2400" dirty="0"/>
                        <a:t>字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（韻母）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字母八音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（音調）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切音</a:t>
                      </a:r>
                      <a:r>
                        <a:rPr lang="en-US" altLang="zh-TW" sz="2400" dirty="0"/>
                        <a:t>15</a:t>
                      </a:r>
                      <a:r>
                        <a:rPr lang="zh-TW" altLang="en-US" sz="2400" dirty="0"/>
                        <a:t>字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（聲母）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172942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十五音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高</a:t>
                      </a:r>
                      <a:endParaRPr lang="zh-TW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三</a:t>
                      </a:r>
                      <a:endParaRPr lang="zh-TW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曾</a:t>
                      </a:r>
                      <a:endParaRPr lang="zh-TW" altLang="en-US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035306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方音符號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ㄜ</a:t>
                      </a:r>
                      <a:endParaRPr lang="en-US" altLang="zh-CN" sz="4800" dirty="0">
                        <a:solidFill>
                          <a:schemeClr val="accent2"/>
                        </a:solidFill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k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˪</a:t>
                      </a:r>
                      <a:br>
                        <a:rPr lang="en-US" altLang="zh-CN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3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ㄗ</a:t>
                      </a:r>
                      <a:br>
                        <a:rPr lang="en-US" altLang="zh-CN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y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783781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台語注音二式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or</a:t>
                      </a:r>
                      <a:b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】+【 r 】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z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976098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台羅拼音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</a:t>
                      </a:r>
                      <a:br>
                        <a:rPr lang="en-US" altLang="zh-TW" sz="96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ts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t 】+【 s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027395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0ECB14DC-7A8D-9661-55FE-3860278E774D}"/>
              </a:ext>
            </a:extLst>
          </p:cNvPr>
          <p:cNvSpPr txBox="1"/>
          <p:nvPr/>
        </p:nvSpPr>
        <p:spPr>
          <a:xfrm>
            <a:off x="4156344" y="5130954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做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99AEE7E-5762-CAEF-08B0-EFE45F6F9BEE}"/>
              </a:ext>
            </a:extLst>
          </p:cNvPr>
          <p:cNvSpPr txBox="1"/>
          <p:nvPr/>
        </p:nvSpPr>
        <p:spPr>
          <a:xfrm>
            <a:off x="4347110" y="4574564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曾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B2BD77F-1C9B-0F78-5C11-509064D1F8B5}"/>
              </a:ext>
            </a:extLst>
          </p:cNvPr>
          <p:cNvSpPr txBox="1"/>
          <p:nvPr/>
        </p:nvSpPr>
        <p:spPr>
          <a:xfrm>
            <a:off x="534988" y="2648383"/>
            <a:ext cx="8684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424863">
              <a:tabLst>
                <a:tab pos="2340000" algn="l"/>
                <a:tab pos="3420000" algn="ctr"/>
                <a:tab pos="4860000" algn="ctr"/>
                <a:tab pos="6660000" algn="ctr"/>
              </a:tabLst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 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0">
              <a:tabLst>
                <a:tab pos="2339975" algn="l"/>
                <a:tab pos="3317875" algn="ctr"/>
                <a:tab pos="4937125" algn="ctr"/>
                <a:tab pos="6545263" algn="ctr"/>
              </a:tabLst>
            </a:pP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（韻母）</a:t>
            </a:r>
            <a:r>
              <a:rPr lang="en-US" altLang="zh-TW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（音調）</a:t>
            </a: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（聲母）</a:t>
            </a: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endParaRPr lang="zh-TW" altLang="en-US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83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4F68-A796-3EF1-98E6-BB1E7781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888AC78-7F9F-C963-6C77-53C1AF78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十五音輸入法按鍵配置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76B093-83C0-F7D2-29C7-6F57789970A1}"/>
              </a:ext>
            </a:extLst>
          </p:cNvPr>
          <p:cNvSpPr txBox="1"/>
          <p:nvPr/>
        </p:nvSpPr>
        <p:spPr>
          <a:xfrm>
            <a:off x="356236" y="2969092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89125"/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F815AC4-E4CC-ACE6-42EB-10D7D088C3A8}"/>
              </a:ext>
            </a:extLst>
          </p:cNvPr>
          <p:cNvSpPr txBox="1"/>
          <p:nvPr/>
        </p:nvSpPr>
        <p:spPr>
          <a:xfrm>
            <a:off x="0" y="8146023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89125"/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台語注音二式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】/【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54F01C-8F28-1888-AEBF-CB45DFAD9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9" y="8792354"/>
            <a:ext cx="9902965" cy="304413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50DE83C-F610-DF19-E266-5B477EFC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85" y="3615423"/>
            <a:ext cx="9921829" cy="3084506"/>
          </a:xfrm>
          <a:prstGeom prst="rect">
            <a:avLst/>
          </a:prstGeom>
        </p:spPr>
      </p:pic>
      <p:pic>
        <p:nvPicPr>
          <p:cNvPr id="13" name="圖片 12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2216934C-E61E-9DB9-1B85-6E8E5B47A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6" y="12482817"/>
            <a:ext cx="9182100" cy="51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8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92A6-0BFB-5946-C906-5D089703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7979521-4E0E-CC7E-489E-D37BB9E6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十五音輸入法按鍵配置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D13E7F6-B767-8F32-C12B-57AD1C1B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6" y="4069801"/>
            <a:ext cx="9574528" cy="275482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8C3EC6B-717B-2195-46A6-BB91922FAFAA}"/>
              </a:ext>
            </a:extLst>
          </p:cNvPr>
          <p:cNvSpPr txBox="1"/>
          <p:nvPr/>
        </p:nvSpPr>
        <p:spPr>
          <a:xfrm>
            <a:off x="356236" y="2969092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89125"/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B07FB59-BC11-0FC6-DA0A-34C90D91C86A}"/>
              </a:ext>
            </a:extLst>
          </p:cNvPr>
          <p:cNvSpPr txBox="1"/>
          <p:nvPr/>
        </p:nvSpPr>
        <p:spPr>
          <a:xfrm>
            <a:off x="0" y="8146023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89125"/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台語注音二式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】/【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74F0EA0-D836-BF70-28B2-D262F41EB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22" y="8802430"/>
            <a:ext cx="9574528" cy="275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2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84A0EB-E80A-7422-5C1E-9D266677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F24A0EF-6017-0A5B-28E2-FD40E4B33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E6B2E59-AAE9-91BD-958A-B36778774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66351"/>
              </p:ext>
            </p:extLst>
          </p:nvPr>
        </p:nvGraphicFramePr>
        <p:xfrm>
          <a:off x="504332" y="9530069"/>
          <a:ext cx="9211168" cy="593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644">
                  <a:extLst>
                    <a:ext uri="{9D8B030D-6E8A-4147-A177-3AD203B41FA5}">
                      <a16:colId xmlns:a16="http://schemas.microsoft.com/office/drawing/2014/main" val="935015548"/>
                    </a:ext>
                  </a:extLst>
                </a:gridCol>
                <a:gridCol w="3917016">
                  <a:extLst>
                    <a:ext uri="{9D8B030D-6E8A-4147-A177-3AD203B41FA5}">
                      <a16:colId xmlns:a16="http://schemas.microsoft.com/office/drawing/2014/main" val="1456152819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2276360943"/>
                    </a:ext>
                  </a:extLst>
                </a:gridCol>
              </a:tblGrid>
              <a:tr h="1186097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注音符號</a:t>
                      </a:r>
                      <a:r>
                        <a:rPr lang="en-US" altLang="zh-TW" sz="2400" dirty="0"/>
                        <a:t>/</a:t>
                      </a:r>
                      <a:r>
                        <a:rPr lang="zh-TW" altLang="en-US" sz="2400" dirty="0"/>
                        <a:t>拼音字母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字韻：字母已分八音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>
                          <a:solidFill>
                            <a:srgbClr val="FFFF00"/>
                          </a:solidFill>
                        </a:rPr>
                        <a:t>（含調韻母</a:t>
                      </a:r>
                      <a:r>
                        <a:rPr lang="zh-TW" altLang="en-US" sz="24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字頭：切音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>
                          <a:solidFill>
                            <a:srgbClr val="FFFF00"/>
                          </a:solidFill>
                        </a:rPr>
                        <a:t>（聲母）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172942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十五音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高</a:t>
                      </a:r>
                      <a:r>
                        <a:rPr lang="zh-TW" altLang="en-US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三</a:t>
                      </a:r>
                      <a:endParaRPr lang="zh-TW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曾</a:t>
                      </a:r>
                      <a:endParaRPr lang="zh-TW" altLang="en-US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035306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方音符號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ㄜ</a:t>
                      </a:r>
                      <a:r>
                        <a:rPr lang="zh-CN" altLang="en-US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˪</a:t>
                      </a:r>
                      <a:br>
                        <a:rPr lang="en-US" altLang="zh-CN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3 】+ 【 k 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ㄗ</a:t>
                      </a:r>
                      <a:br>
                        <a:rPr lang="en-US" altLang="zh-CN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y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783781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台語注音二式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 err="1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or</a:t>
                      </a:r>
                      <a:r>
                        <a:rPr lang="en-US" altLang="zh-TW" sz="4800" dirty="0" err="1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】+【 r 】+</a:t>
                      </a: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Z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976098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台羅拼音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 err="1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</a:t>
                      </a:r>
                      <a:r>
                        <a:rPr lang="en-US" altLang="zh-TW" sz="4800" dirty="0" err="1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96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】+</a:t>
                      </a: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ts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t 】+【 s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027395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93E065D5-0A68-1D21-F0C3-810D08AB26EB}"/>
              </a:ext>
            </a:extLst>
          </p:cNvPr>
          <p:cNvSpPr txBox="1"/>
          <p:nvPr/>
        </p:nvSpPr>
        <p:spPr>
          <a:xfrm>
            <a:off x="4156344" y="7316951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做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E4E9BC9-7C9D-6401-8B44-93F0820E3B4F}"/>
              </a:ext>
            </a:extLst>
          </p:cNvPr>
          <p:cNvSpPr txBox="1"/>
          <p:nvPr/>
        </p:nvSpPr>
        <p:spPr>
          <a:xfrm>
            <a:off x="4347110" y="6760561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曾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E2E3AD-14A0-BA0B-2B29-1424A9B9DAFF}"/>
              </a:ext>
            </a:extLst>
          </p:cNvPr>
          <p:cNvSpPr txBox="1"/>
          <p:nvPr/>
        </p:nvSpPr>
        <p:spPr>
          <a:xfrm>
            <a:off x="534988" y="2470915"/>
            <a:ext cx="868442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424863">
              <a:spcBef>
                <a:spcPts val="1800"/>
              </a:spcBef>
              <a:tabLst>
                <a:tab pos="2416175" algn="l"/>
                <a:tab pos="3419475" algn="ctr"/>
                <a:tab pos="4859338" algn="ctr"/>
                <a:tab pos="6659563" algn="ctr"/>
              </a:tabLst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 </a:t>
            </a:r>
            <a:r>
              <a:rPr lang="zh-TW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字韻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 </a:t>
            </a:r>
            <a:r>
              <a:rPr lang="zh-TW" altLang="en-US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字頭</a:t>
            </a:r>
            <a:endParaRPr lang="en-US" altLang="zh-TW" sz="36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0">
              <a:spcBef>
                <a:spcPts val="1800"/>
              </a:spcBef>
              <a:tabLst>
                <a:tab pos="2416175" algn="l"/>
                <a:tab pos="3500438" algn="ctr"/>
                <a:tab pos="4859338" algn="ctr"/>
                <a:tab pos="6659563" algn="ctr"/>
              </a:tabLst>
            </a:pP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八音字母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0">
              <a:tabLst>
                <a:tab pos="2339975" algn="l"/>
                <a:tab pos="3852863" algn="ctr"/>
                <a:tab pos="5826125" algn="ctr"/>
                <a:tab pos="6659563" algn="ctr"/>
              </a:tabLst>
            </a:pPr>
            <a:r>
              <a:rPr lang="en-US" altLang="zh-TW" sz="24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sz="24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（含調韻母）</a:t>
            </a:r>
            <a:r>
              <a:rPr lang="en-US" altLang="zh-TW" sz="24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24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（聲母）</a:t>
            </a:r>
            <a:endParaRPr lang="en-US" altLang="zh-TW" sz="24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8424863">
              <a:spcBef>
                <a:spcPts val="1800"/>
              </a:spcBef>
              <a:tabLst>
                <a:tab pos="2416175" algn="l"/>
                <a:tab pos="3419475" algn="ctr"/>
                <a:tab pos="4859338" algn="ctr"/>
                <a:tab pos="6659563" algn="ctr"/>
              </a:tabLst>
            </a:pP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defTabSz="8424863">
              <a:spcBef>
                <a:spcPts val="1800"/>
              </a:spcBef>
              <a:tabLst>
                <a:tab pos="2416175" algn="l"/>
                <a:tab pos="3500438" algn="ctr"/>
                <a:tab pos="5106988" algn="ctr"/>
                <a:tab pos="6659563" algn="ctr"/>
              </a:tabLst>
            </a:pP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 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b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r>
              <a:rPr lang="en-US" altLang="zh-TW" sz="24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（韻母）</a:t>
            </a:r>
            <a:r>
              <a:rPr lang="en-US" altLang="zh-TW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（音調）</a:t>
            </a:r>
            <a:r>
              <a:rPr lang="en-US" altLang="zh-TW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（聲母）</a:t>
            </a:r>
            <a:endParaRPr lang="en-US" altLang="zh-TW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511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EB4B-AECC-F4C6-AFF2-06C2923E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3D26B34-8F13-7FC1-47F3-7F1CA73E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9264010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字（聲母總表）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9FCE829-A14C-41F1-0137-59BE9F27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3022600"/>
            <a:ext cx="9264010" cy="1062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8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3471-A215-9D77-1F5D-4D66EF2C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6F4E95D-D102-6E97-FAD8-C89631B2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8406085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字（韻母總表）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DE0EC8F-1B16-A2EB-7255-44FFE4C5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80" y="2412762"/>
            <a:ext cx="7237639" cy="15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8828-7770-4403-18DF-884C8958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AE3A65A0-23C6-4050-D4DC-FF525C24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十五音輸入法特性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76E80D0-7DCF-3AE6-AE90-B7093C29A756}"/>
              </a:ext>
            </a:extLst>
          </p:cNvPr>
          <p:cNvSpPr txBox="1"/>
          <p:nvPr/>
        </p:nvSpPr>
        <p:spPr>
          <a:xfrm>
            <a:off x="498474" y="2970485"/>
            <a:ext cx="933507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50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15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之漢字，改以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</a:t>
            </a:r>
            <a:r>
              <a:rPr lang="en-US" altLang="zh-TW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台語注音二式</a:t>
            </a:r>
            <a:r>
              <a:rPr lang="en-US" altLang="zh-TW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代；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閩南話的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漢字標音法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多為：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順序，故鍵盤輸入，本亦應循此順序，然為遵循傳統十五音標示法，故鍵盤輸入順序改成：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endParaRPr lang="en-US" altLang="zh-TW" sz="36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3FF2CC7-EF5F-4E35-7483-BA5F11597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768529"/>
              </p:ext>
            </p:extLst>
          </p:nvPr>
        </p:nvGraphicFramePr>
        <p:xfrm>
          <a:off x="498475" y="10019415"/>
          <a:ext cx="9211168" cy="593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644">
                  <a:extLst>
                    <a:ext uri="{9D8B030D-6E8A-4147-A177-3AD203B41FA5}">
                      <a16:colId xmlns:a16="http://schemas.microsoft.com/office/drawing/2014/main" val="935015548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1456152819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4194578176"/>
                    </a:ext>
                  </a:extLst>
                </a:gridCol>
                <a:gridCol w="1958508">
                  <a:extLst>
                    <a:ext uri="{9D8B030D-6E8A-4147-A177-3AD203B41FA5}">
                      <a16:colId xmlns:a16="http://schemas.microsoft.com/office/drawing/2014/main" val="2276360943"/>
                    </a:ext>
                  </a:extLst>
                </a:gridCol>
              </a:tblGrid>
              <a:tr h="1186097">
                <a:tc>
                  <a:txBody>
                    <a:bodyPr/>
                    <a:lstStyle/>
                    <a:p>
                      <a:r>
                        <a:rPr lang="zh-TW" altLang="en-US" sz="2400" dirty="0"/>
                        <a:t>注音符號</a:t>
                      </a:r>
                      <a:r>
                        <a:rPr lang="en-US" altLang="zh-TW" sz="2400" dirty="0"/>
                        <a:t>/</a:t>
                      </a:r>
                      <a:r>
                        <a:rPr lang="zh-TW" altLang="en-US" sz="2400" dirty="0"/>
                        <a:t>拼音字母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字母</a:t>
                      </a:r>
                      <a:r>
                        <a:rPr lang="en-US" altLang="zh-TW" sz="2400" dirty="0"/>
                        <a:t>50</a:t>
                      </a:r>
                      <a:r>
                        <a:rPr lang="zh-TW" altLang="en-US" sz="2400" dirty="0"/>
                        <a:t>字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（韻母）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字母八音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（音調）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/>
                        <a:t>切音</a:t>
                      </a:r>
                      <a:r>
                        <a:rPr lang="en-US" altLang="zh-TW" sz="2400" dirty="0"/>
                        <a:t>15</a:t>
                      </a:r>
                      <a:r>
                        <a:rPr lang="zh-TW" altLang="en-US" sz="2400" dirty="0"/>
                        <a:t>字</a:t>
                      </a:r>
                      <a:br>
                        <a:rPr lang="en-US" altLang="zh-TW" sz="2400" dirty="0"/>
                      </a:br>
                      <a:r>
                        <a:rPr lang="zh-TW" altLang="en-US" sz="2400" dirty="0"/>
                        <a:t>（聲調）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172942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十五音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高</a:t>
                      </a:r>
                      <a:endParaRPr lang="zh-TW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三</a:t>
                      </a:r>
                      <a:endParaRPr lang="zh-TW" altLang="en-US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曾</a:t>
                      </a:r>
                      <a:endParaRPr lang="zh-TW" altLang="en-US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035306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方音符號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ㄜ</a:t>
                      </a:r>
                      <a:endParaRPr lang="en-US" altLang="zh-CN" sz="4800" dirty="0">
                        <a:solidFill>
                          <a:schemeClr val="accent2"/>
                        </a:solidFill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k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˪</a:t>
                      </a:r>
                      <a:br>
                        <a:rPr lang="en-US" altLang="zh-CN" sz="4800" b="1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3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ㄗ</a:t>
                      </a:r>
                      <a:br>
                        <a:rPr lang="en-US" altLang="zh-CN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y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783781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台語注音二式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or</a:t>
                      </a:r>
                      <a:b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】+【 r 】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Z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976098"/>
                  </a:ext>
                </a:extLst>
              </a:tr>
              <a:tr h="1186097">
                <a:tc>
                  <a:txBody>
                    <a:bodyPr/>
                    <a:lstStyle/>
                    <a:p>
                      <a:r>
                        <a:rPr lang="zh-TW" altLang="en-US" sz="3600" dirty="0"/>
                        <a:t>台羅拼音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8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  <a:t>o</a:t>
                      </a:r>
                      <a:br>
                        <a:rPr lang="en-US" altLang="zh-TW" sz="9600" dirty="0">
                          <a:solidFill>
                            <a:schemeClr val="accent2"/>
                          </a:solidFill>
                          <a:latin typeface="Charis SIL" panose="02000500060000020004" pitchFamily="2" charset="0"/>
                          <a:ea typeface="Charis SIL" panose="02000500060000020004" pitchFamily="2" charset="0"/>
                          <a:cs typeface="Charis SIL" panose="02000500060000020004" pitchFamily="2" charset="0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o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</a:t>
                      </a:r>
                      <a:br>
                        <a:rPr lang="en-US" altLang="zh-TW" sz="48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2000" b="1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_ 】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ts</a:t>
                      </a:r>
                      <a:br>
                        <a:rPr lang="en-US" altLang="zh-TW" sz="48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 t 】+【 s 】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027395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376376C4-8097-40ED-2B6E-C1C257598C57}"/>
              </a:ext>
            </a:extLst>
          </p:cNvPr>
          <p:cNvSpPr txBox="1"/>
          <p:nvPr/>
        </p:nvSpPr>
        <p:spPr>
          <a:xfrm>
            <a:off x="4150487" y="7806297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414C469-9A90-61C1-E894-B2B43511D880}"/>
              </a:ext>
            </a:extLst>
          </p:cNvPr>
          <p:cNvSpPr txBox="1"/>
          <p:nvPr/>
        </p:nvSpPr>
        <p:spPr>
          <a:xfrm>
            <a:off x="4341253" y="7249907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高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曾</a:t>
            </a:r>
          </a:p>
        </p:txBody>
      </p:sp>
    </p:spTree>
    <p:extLst>
      <p:ext uri="{BB962C8B-B14F-4D97-AF65-F5344CB8AC3E}">
        <p14:creationId xmlns:p14="http://schemas.microsoft.com/office/powerpoint/2010/main" val="2095169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7B63-2671-B8D7-AF0C-531B369B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9A7D2AC-FA09-E624-32D7-F37D8300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十五音輸入法種類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5355AB6-4DE0-6B08-C132-6D734084CE32}"/>
              </a:ext>
            </a:extLst>
          </p:cNvPr>
          <p:cNvSpPr txBox="1"/>
          <p:nvPr/>
        </p:nvSpPr>
        <p:spPr>
          <a:xfrm>
            <a:off x="498474" y="2970485"/>
            <a:ext cx="90352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：熟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注音符號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適用；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台語注音二式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：熟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美語自然發音字母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b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漢語拼音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閩拼方案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適用；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：熟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羅馬字母拼音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白話字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9865467-6719-E757-5A96-85C12E36E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235" y="6656934"/>
            <a:ext cx="5515745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9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5A48-BB22-ACDD-8350-87C21A42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476E74C-4E87-B228-17F2-5B205CC5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十五音輸入法操作介面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CD5B044-A29B-2B87-396B-BB1B19E4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95" y="3796960"/>
            <a:ext cx="5515745" cy="359661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57481A1-ADF8-4E96-006F-B7D0EE437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392" y="9898194"/>
            <a:ext cx="5215940" cy="6300442"/>
          </a:xfrm>
          <a:prstGeom prst="rect">
            <a:avLst/>
          </a:prstGeom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C5F3502-26D0-8D52-A3D0-C72FE9E0A861}"/>
              </a:ext>
            </a:extLst>
          </p:cNvPr>
          <p:cNvSpPr/>
          <p:nvPr/>
        </p:nvSpPr>
        <p:spPr>
          <a:xfrm>
            <a:off x="2579162" y="9995293"/>
            <a:ext cx="5007700" cy="1087422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圖說文字: 折線不加上框線 18">
            <a:extLst>
              <a:ext uri="{FF2B5EF4-FFF2-40B4-BE49-F238E27FC236}">
                <a16:creationId xmlns:a16="http://schemas.microsoft.com/office/drawing/2014/main" id="{4996C010-F84C-0B5A-9FB3-E8483CB3F72A}"/>
              </a:ext>
            </a:extLst>
          </p:cNvPr>
          <p:cNvSpPr/>
          <p:nvPr/>
        </p:nvSpPr>
        <p:spPr>
          <a:xfrm>
            <a:off x="3417939" y="9155393"/>
            <a:ext cx="1559074" cy="592015"/>
          </a:xfrm>
          <a:prstGeom prst="callout2">
            <a:avLst>
              <a:gd name="adj1" fmla="val 55219"/>
              <a:gd name="adj2" fmla="val -1002"/>
              <a:gd name="adj3" fmla="val 56291"/>
              <a:gd name="adj4" fmla="val -16667"/>
              <a:gd name="adj5" fmla="val 131630"/>
              <a:gd name="adj6" fmla="val -2026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rgbClr val="FF0000"/>
                </a:solidFill>
              </a:rPr>
              <a:t>輸入框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EBB613D-C1B3-976C-6A88-CEE3843E7A1E}"/>
              </a:ext>
            </a:extLst>
          </p:cNvPr>
          <p:cNvSpPr/>
          <p:nvPr/>
        </p:nvSpPr>
        <p:spPr>
          <a:xfrm>
            <a:off x="2579162" y="11082715"/>
            <a:ext cx="5035204" cy="5023339"/>
          </a:xfrm>
          <a:prstGeom prst="roundRect">
            <a:avLst>
              <a:gd name="adj" fmla="val 4765"/>
            </a:avLst>
          </a:prstGeom>
          <a:noFill/>
          <a:ln w="57150">
            <a:solidFill>
              <a:srgbClr val="0070C0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左大括弧 22">
            <a:extLst>
              <a:ext uri="{FF2B5EF4-FFF2-40B4-BE49-F238E27FC236}">
                <a16:creationId xmlns:a16="http://schemas.microsoft.com/office/drawing/2014/main" id="{7FCC881A-8312-2E3A-5348-030B95E00A6D}"/>
              </a:ext>
            </a:extLst>
          </p:cNvPr>
          <p:cNvSpPr/>
          <p:nvPr/>
        </p:nvSpPr>
        <p:spPr>
          <a:xfrm>
            <a:off x="1953924" y="11082714"/>
            <a:ext cx="517358" cy="50233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BB2CAE0-7F39-9D38-9CC9-AA8DF94BCBAD}"/>
              </a:ext>
            </a:extLst>
          </p:cNvPr>
          <p:cNvSpPr txBox="1"/>
          <p:nvPr/>
        </p:nvSpPr>
        <p:spPr>
          <a:xfrm>
            <a:off x="1231766" y="12888196"/>
            <a:ext cx="677108" cy="1733808"/>
          </a:xfrm>
          <a:prstGeom prst="rect">
            <a:avLst/>
          </a:prstGeom>
          <a:noFill/>
        </p:spPr>
        <p:txBody>
          <a:bodyPr vert="eaVert" wrap="none" rtlCol="0" anchor="ctr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</a:rPr>
              <a:t>侯選清單</a:t>
            </a:r>
          </a:p>
        </p:txBody>
      </p:sp>
      <p:sp>
        <p:nvSpPr>
          <p:cNvPr id="25" name="圖說文字: 折線不加上框線 24">
            <a:extLst>
              <a:ext uri="{FF2B5EF4-FFF2-40B4-BE49-F238E27FC236}">
                <a16:creationId xmlns:a16="http://schemas.microsoft.com/office/drawing/2014/main" id="{2437B01E-1D4D-D9CF-B420-47AEAE71727A}"/>
              </a:ext>
            </a:extLst>
          </p:cNvPr>
          <p:cNvSpPr/>
          <p:nvPr/>
        </p:nvSpPr>
        <p:spPr>
          <a:xfrm>
            <a:off x="8450948" y="11254015"/>
            <a:ext cx="720874" cy="3749728"/>
          </a:xfrm>
          <a:prstGeom prst="callout2">
            <a:avLst>
              <a:gd name="adj1" fmla="val 55219"/>
              <a:gd name="adj2" fmla="val -1002"/>
              <a:gd name="adj3" fmla="val 55072"/>
              <a:gd name="adj4" fmla="val -46264"/>
              <a:gd name="adj5" fmla="val 10818"/>
              <a:gd name="adj6" fmla="val -13593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3200" dirty="0">
                <a:solidFill>
                  <a:srgbClr val="FF0000"/>
                </a:solidFill>
              </a:rPr>
              <a:t>選擇指標</a:t>
            </a:r>
          </a:p>
        </p:txBody>
      </p:sp>
      <p:sp>
        <p:nvSpPr>
          <p:cNvPr id="4" name="圖說文字: 折線不加上框線 3">
            <a:extLst>
              <a:ext uri="{FF2B5EF4-FFF2-40B4-BE49-F238E27FC236}">
                <a16:creationId xmlns:a16="http://schemas.microsoft.com/office/drawing/2014/main" id="{F4CBEE04-BBD4-78BC-31ED-31803810B326}"/>
              </a:ext>
            </a:extLst>
          </p:cNvPr>
          <p:cNvSpPr/>
          <p:nvPr/>
        </p:nvSpPr>
        <p:spPr>
          <a:xfrm>
            <a:off x="3451077" y="3022600"/>
            <a:ext cx="4634832" cy="592015"/>
          </a:xfrm>
          <a:prstGeom prst="callout2">
            <a:avLst>
              <a:gd name="adj1" fmla="val 55219"/>
              <a:gd name="adj2" fmla="val -1002"/>
              <a:gd name="adj3" fmla="val 56291"/>
              <a:gd name="adj4" fmla="val -16667"/>
              <a:gd name="adj5" fmla="val 131630"/>
              <a:gd name="adj6" fmla="val -2026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3200" dirty="0">
                <a:solidFill>
                  <a:srgbClr val="FF0000"/>
                </a:solidFill>
              </a:rPr>
              <a:t>輸入方案選單</a:t>
            </a:r>
            <a:r>
              <a:rPr lang="en-US" altLang="zh-TW" sz="3200" dirty="0">
                <a:solidFill>
                  <a:schemeClr val="accent5"/>
                </a:solidFill>
              </a:rPr>
              <a:t>【 </a:t>
            </a:r>
            <a:r>
              <a:rPr lang="en-US" altLang="zh-TW" sz="3200" dirty="0" err="1">
                <a:solidFill>
                  <a:schemeClr val="accent5"/>
                </a:solidFill>
              </a:rPr>
              <a:t>F4</a:t>
            </a:r>
            <a:r>
              <a:rPr lang="en-US" altLang="zh-TW" sz="3200" dirty="0">
                <a:solidFill>
                  <a:schemeClr val="accent5"/>
                </a:solidFill>
              </a:rPr>
              <a:t> 】</a:t>
            </a:r>
            <a:endParaRPr lang="zh-TW" altLang="en-US" sz="3200" dirty="0">
              <a:solidFill>
                <a:schemeClr val="accent5"/>
              </a:solidFill>
            </a:endParaRPr>
          </a:p>
        </p:txBody>
      </p:sp>
      <p:sp>
        <p:nvSpPr>
          <p:cNvPr id="6" name="圖說文字: 折線不加上框線 5">
            <a:extLst>
              <a:ext uri="{FF2B5EF4-FFF2-40B4-BE49-F238E27FC236}">
                <a16:creationId xmlns:a16="http://schemas.microsoft.com/office/drawing/2014/main" id="{3BE3DC58-A80D-40CF-6880-9CC70E5217CD}"/>
              </a:ext>
            </a:extLst>
          </p:cNvPr>
          <p:cNvSpPr/>
          <p:nvPr/>
        </p:nvSpPr>
        <p:spPr>
          <a:xfrm>
            <a:off x="8531983" y="3614615"/>
            <a:ext cx="720874" cy="3749728"/>
          </a:xfrm>
          <a:prstGeom prst="callout2">
            <a:avLst>
              <a:gd name="adj1" fmla="val 55219"/>
              <a:gd name="adj2" fmla="val -1002"/>
              <a:gd name="adj3" fmla="val 55072"/>
              <a:gd name="adj4" fmla="val -46264"/>
              <a:gd name="adj5" fmla="val 45307"/>
              <a:gd name="adj6" fmla="val -44217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TW" altLang="en-US" sz="3200" dirty="0">
                <a:solidFill>
                  <a:srgbClr val="FF0000"/>
                </a:solidFill>
              </a:rPr>
              <a:t>輸入方案選項</a:t>
            </a:r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C9574DA4-E885-B323-DD44-6E6B1ED27472}"/>
              </a:ext>
            </a:extLst>
          </p:cNvPr>
          <p:cNvSpPr/>
          <p:nvPr/>
        </p:nvSpPr>
        <p:spPr>
          <a:xfrm>
            <a:off x="1786763" y="5558776"/>
            <a:ext cx="517358" cy="17248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E092E3B-4932-4751-D542-D6CD2196F86C}"/>
              </a:ext>
            </a:extLst>
          </p:cNvPr>
          <p:cNvSpPr txBox="1"/>
          <p:nvPr/>
        </p:nvSpPr>
        <p:spPr>
          <a:xfrm>
            <a:off x="1231766" y="5558776"/>
            <a:ext cx="677108" cy="1733808"/>
          </a:xfrm>
          <a:prstGeom prst="rect">
            <a:avLst/>
          </a:prstGeom>
          <a:noFill/>
        </p:spPr>
        <p:txBody>
          <a:bodyPr vert="eaVert" wrap="none" rtlCol="0" anchor="ctr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</a:rPr>
              <a:t>輸入方案</a:t>
            </a:r>
          </a:p>
        </p:txBody>
      </p:sp>
    </p:spTree>
    <p:extLst>
      <p:ext uri="{BB962C8B-B14F-4D97-AF65-F5344CB8AC3E}">
        <p14:creationId xmlns:p14="http://schemas.microsoft.com/office/powerpoint/2010/main" val="279550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EF3A-7337-FA3A-5547-75540D16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8B7A3DCC-D270-BC95-CB18-E922B653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十五音輸入法特性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F6355D-D20A-0BA5-E7F0-FF9763B42778}"/>
              </a:ext>
            </a:extLst>
          </p:cNvPr>
          <p:cNvSpPr txBox="1"/>
          <p:nvPr/>
        </p:nvSpPr>
        <p:spPr>
          <a:xfrm>
            <a:off x="475963" y="4799285"/>
            <a:ext cx="933507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使用十五音輸入法，在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輸入框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本應輸入完整之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三要素：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，故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C0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床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字，本應按鍵輸入：</a:t>
            </a:r>
            <a:r>
              <a:rPr lang="zh-TW" altLang="en-US" sz="3600" dirty="0">
                <a:solidFill>
                  <a:srgbClr val="C0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公五出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十五音輸入法允許使用者於無法確認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之時，以按鍵：</a:t>
            </a:r>
            <a:r>
              <a:rPr lang="en-US" altLang="zh-TW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 ? 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，輸入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不確認字符</a:t>
            </a:r>
            <a:r>
              <a:rPr lang="zh-TW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？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代：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47A7A9-8FBA-A83F-2973-1223392A0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8914474"/>
            <a:ext cx="6248400" cy="744446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DD9243A-42E1-9E2C-F221-B2C4C90A3AB5}"/>
              </a:ext>
            </a:extLst>
          </p:cNvPr>
          <p:cNvSpPr txBox="1"/>
          <p:nvPr/>
        </p:nvSpPr>
        <p:spPr>
          <a:xfrm>
            <a:off x="3911557" y="2924957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床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71DAE98-B290-79BC-CFE0-8A33B04E6C32}"/>
              </a:ext>
            </a:extLst>
          </p:cNvPr>
          <p:cNvSpPr txBox="1"/>
          <p:nvPr/>
        </p:nvSpPr>
        <p:spPr>
          <a:xfrm>
            <a:off x="4102323" y="2368567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公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出</a:t>
            </a:r>
          </a:p>
        </p:txBody>
      </p:sp>
    </p:spTree>
    <p:extLst>
      <p:ext uri="{BB962C8B-B14F-4D97-AF65-F5344CB8AC3E}">
        <p14:creationId xmlns:p14="http://schemas.microsoft.com/office/powerpoint/2010/main" val="1333371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E58C-7F17-12BA-3397-4175CD68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8760C20-0A2E-8C89-414F-496CD398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" y="1327707"/>
            <a:ext cx="9454801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音調略去簡化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68203D-8F49-03AB-A5DC-605A92CE25BD}"/>
              </a:ext>
            </a:extLst>
          </p:cNvPr>
          <p:cNvSpPr txBox="1"/>
          <p:nvPr/>
        </p:nvSpPr>
        <p:spPr>
          <a:xfrm>
            <a:off x="475963" y="4799285"/>
            <a:ext cx="85918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十五音輸入法亦允許使用者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簡化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操作，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漢字標音三要素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，略去音調，僅輸入：</a:t>
            </a:r>
            <a:b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+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r>
              <a:rPr lang="en-US" altLang="zh-TW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：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F0F8872-9F6A-9A7C-3CA9-6D8B4380FF4F}"/>
              </a:ext>
            </a:extLst>
          </p:cNvPr>
          <p:cNvSpPr txBox="1"/>
          <p:nvPr/>
        </p:nvSpPr>
        <p:spPr>
          <a:xfrm>
            <a:off x="3911557" y="2924957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床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D179EE9-9231-702B-CB90-8EB09D056F76}"/>
              </a:ext>
            </a:extLst>
          </p:cNvPr>
          <p:cNvSpPr txBox="1"/>
          <p:nvPr/>
        </p:nvSpPr>
        <p:spPr>
          <a:xfrm>
            <a:off x="4102323" y="2368567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公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出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F7A18CB-4522-7BD0-314F-38F870FC3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6861516"/>
            <a:ext cx="6477000" cy="771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0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8FA6-EBE8-129C-76FA-A2435914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E6EB0BF-3620-749F-26A7-A64E9EF6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5" y="1327707"/>
            <a:ext cx="9454801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字母八音促聲調模糊化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8691AEE-9EC3-7DC0-5B03-ED1E23C5BA45}"/>
              </a:ext>
            </a:extLst>
          </p:cNvPr>
          <p:cNvSpPr txBox="1"/>
          <p:nvPr/>
        </p:nvSpPr>
        <p:spPr>
          <a:xfrm>
            <a:off x="356235" y="10534073"/>
            <a:ext cx="8928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十五音初學者，無法掌握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應為：</a:t>
            </a:r>
            <a:r>
              <a:rPr lang="zh-TW" altLang="en-US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或</a:t>
            </a:r>
            <a:r>
              <a:rPr lang="zh-TW" altLang="en-US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時，本輸入法允許使用者以按鍵：</a:t>
            </a:r>
            <a:r>
              <a:rPr lang="en-US" altLang="zh-TW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 7 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，輸入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促聲調無法確認字符</a:t>
            </a:r>
            <a:r>
              <a:rPr lang="zh-TW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代，表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促聲模糊化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操作法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9485F1B-8DC9-C95C-6ED6-DB24FE68E26C}"/>
              </a:ext>
            </a:extLst>
          </p:cNvPr>
          <p:cNvSpPr txBox="1"/>
          <p:nvPr/>
        </p:nvSpPr>
        <p:spPr>
          <a:xfrm>
            <a:off x="882919" y="2956288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8D7397-5483-38B3-2350-CEA9B4666670}"/>
              </a:ext>
            </a:extLst>
          </p:cNvPr>
          <p:cNvSpPr txBox="1"/>
          <p:nvPr/>
        </p:nvSpPr>
        <p:spPr>
          <a:xfrm>
            <a:off x="1073685" y="2399898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3FB8CBB-5070-8B61-A86F-AB0B91DE41C7}"/>
              </a:ext>
            </a:extLst>
          </p:cNvPr>
          <p:cNvSpPr txBox="1"/>
          <p:nvPr/>
        </p:nvSpPr>
        <p:spPr>
          <a:xfrm>
            <a:off x="6750319" y="2956288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白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D5A4DF2-A072-0EDF-3D4E-AC8A51621152}"/>
              </a:ext>
            </a:extLst>
          </p:cNvPr>
          <p:cNvSpPr txBox="1"/>
          <p:nvPr/>
        </p:nvSpPr>
        <p:spPr>
          <a:xfrm>
            <a:off x="6941085" y="2399898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經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邊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EFDF1FB-FF4A-2418-FF6F-3EC0036D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72" y="4787466"/>
            <a:ext cx="4460283" cy="531747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57A97DE-00A9-A0AE-82C8-965F04B7F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753" y="4787466"/>
            <a:ext cx="4460283" cy="53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91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5CE6-6DDF-3F3D-B469-77E74961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EC4EE54-5B4F-0C51-A2D6-58CD65C5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十五音打字練習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方音符號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64B7B2-0881-B45B-8DFE-5B1F2F854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19"/>
          <a:stretch>
            <a:fillRect/>
          </a:stretch>
        </p:blipFill>
        <p:spPr>
          <a:xfrm>
            <a:off x="498475" y="2555795"/>
            <a:ext cx="9217025" cy="154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3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D57A-2181-A1D3-6F27-8E26CF7A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B2ED935-7D5C-4CCD-CD80-ED0C679D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十五音打字練習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台語注音二式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D7B051-2289-ABFD-C018-1A89F99A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40229"/>
          <a:stretch>
            <a:fillRect/>
          </a:stretch>
        </p:blipFill>
        <p:spPr>
          <a:xfrm>
            <a:off x="498474" y="2455817"/>
            <a:ext cx="6310527" cy="1554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95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A180-66D5-10E1-986A-F19B3004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FCA68E8-4641-E7A0-3D24-967CD8FB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35926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十五音打字練習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台羅拼音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latin typeface="Noto Serif TC Black" panose="02020200000000000000" pitchFamily="18" charset="-128"/>
              <a:ea typeface="Noto Serif TC Black" panose="02020200000000000000" pitchFamily="18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5D3F89-9B4F-7D64-2B6F-D4192B1E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143"/>
          <a:stretch>
            <a:fillRect/>
          </a:stretch>
        </p:blipFill>
        <p:spPr>
          <a:xfrm>
            <a:off x="498923" y="2416629"/>
            <a:ext cx="6489705" cy="156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94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D0E5-79C5-2F82-CA47-C19F355B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335AEE4-1430-68F9-D9A3-86D34F1B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EB2F7F2-F45D-2866-448F-B748FA1A2FD2}"/>
              </a:ext>
            </a:extLst>
          </p:cNvPr>
          <p:cNvSpPr txBox="1"/>
          <p:nvPr/>
        </p:nvSpPr>
        <p:spPr>
          <a:xfrm>
            <a:off x="498475" y="2376269"/>
            <a:ext cx="9217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初學入門四大主題：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BB6F02-AA7D-8BAD-7C58-3E45522CD468}"/>
              </a:ext>
            </a:extLst>
          </p:cNvPr>
          <p:cNvSpPr txBox="1"/>
          <p:nvPr/>
        </p:nvSpPr>
        <p:spPr>
          <a:xfrm>
            <a:off x="498475" y="3182723"/>
            <a:ext cx="9217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字母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 50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字（韻母）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50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字母分八音（音調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/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聲調）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切音 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15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字（聲母）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6" action="ppaction://hlinksldjump"/>
              </a:rPr>
              <a:t>呼十五音法</a:t>
            </a:r>
            <a:endParaRPr lang="zh-TW" altLang="en-US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CA7BB30-2E59-0C51-189A-10441ED7F1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316"/>
          <a:stretch>
            <a:fillRect/>
          </a:stretch>
        </p:blipFill>
        <p:spPr>
          <a:xfrm>
            <a:off x="974138" y="5651170"/>
            <a:ext cx="8265697" cy="12128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3428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F1BF-84F4-B437-C892-B4B31C12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C872BB7-494C-1210-E55B-B30184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BDEA6D1-5557-75C0-3B00-E3D3716D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87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8EA55-7AED-8567-2507-DBB0DB81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56885B2B-FDFC-5DF1-482D-745C8F1C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B4D3B1-23AF-D874-7896-032E017D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14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6555-8706-AFCA-780F-25224663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EF777CF-70D1-997A-0D8C-D05621D6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2450219-2090-0487-7112-74C50FAC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31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A44F-64B3-FF79-7265-E64E3FD26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69861CF-3364-A068-6FC7-130962CE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F27CD03-49B3-641E-0C9E-E95FB723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18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067E-E354-B488-32D8-8D623A4E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13EFD75-76D5-78BD-576B-6DBF2138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AEE81E-A6FD-49E0-3A5C-1EC0A162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81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48BA-75D8-AA5F-6508-32AA409D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AEA8E2-4B4E-6AC9-14AF-FF4D6848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8" y="2179077"/>
            <a:ext cx="8877113" cy="7939845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B9691ADE-383F-A959-1BAD-580E6646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8877113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字母分八音速記法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EB23DF7-59F3-EB5D-7B89-961F5A285BEE}"/>
              </a:ext>
            </a:extLst>
          </p:cNvPr>
          <p:cNvGrpSpPr/>
          <p:nvPr/>
        </p:nvGrpSpPr>
        <p:grpSpPr>
          <a:xfrm>
            <a:off x="531318" y="10275178"/>
            <a:ext cx="8899844" cy="2485715"/>
            <a:chOff x="453284" y="7347647"/>
            <a:chExt cx="5933229" cy="165714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566658C5-9C0B-3606-6ACD-D6B79D1F2092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D10B8E-4A77-0830-F14D-BDD580BCD7ED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5</a:t>
                </a:r>
                <a:endParaRPr lang="zh-TW" altLang="en-US" sz="24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920E4AF-EB1F-1020-0E35-BC6AD16F20B2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DF00B8C-E84E-CB5A-7417-47F11473EB83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2</a:t>
                </a:r>
                <a:endParaRPr lang="zh-TW" altLang="en-US" sz="24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36F9EE9-096E-5F8B-F511-AD0AF4AD86B9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62F54A3-562C-BA92-E77C-7061A8644BCF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p:grp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25BC4770-F164-CD6C-F506-40E9ACDAA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  <p:pic>
        <p:nvPicPr>
          <p:cNvPr id="11" name="圖片 10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C3439606-897C-C37B-DADE-47E082C84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5" y="12993299"/>
            <a:ext cx="9182100" cy="51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34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431B-8A54-F040-DDC0-22957762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4D10230-CB79-169D-D61A-44A0291E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034E897-A796-5F26-9E63-E7F6C678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4" y="2377819"/>
            <a:ext cx="9574532" cy="150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08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3C98-26C2-15FC-1120-9270307F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A73AE65-BB7B-D731-0896-BE113CC2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695635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r>
              <a:rPr lang="zh-TW" altLang="en-US" dirty="0"/>
              <a:t>（發音部位）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1417F2-815C-BE4C-47EB-801207A1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1" y="2436469"/>
            <a:ext cx="9816738" cy="127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64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AC87-02D0-E024-4BEE-A889BB82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85A49F-AE10-2688-0701-EF300D8D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996772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r>
              <a:rPr lang="zh-TW" altLang="en-US" dirty="0"/>
              <a:t>（發音部位）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DD4C65-16CD-0221-8AD4-BF761185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37" y="2495007"/>
            <a:ext cx="9873926" cy="87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4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B17A-1AC8-E2C2-1092-70F74BB5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2FB42B1-67E1-77B1-311F-4FA53DBA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呼十五音法（反切併音）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CD3DC5-97BC-661B-1F43-42D71367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66"/>
          <a:stretch/>
        </p:blipFill>
        <p:spPr>
          <a:xfrm>
            <a:off x="62547" y="2928200"/>
            <a:ext cx="10161905" cy="562331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9808623-BCC4-DC3C-797D-47187368524D}"/>
              </a:ext>
            </a:extLst>
          </p:cNvPr>
          <p:cNvSpPr txBox="1"/>
          <p:nvPr/>
        </p:nvSpPr>
        <p:spPr>
          <a:xfrm>
            <a:off x="945106" y="9736486"/>
            <a:ext cx="92793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唸字母（韻母）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思字韻（方音符號</a:t>
            </a:r>
            <a:r>
              <a:rPr lang="en-US" altLang="zh-TW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拼音字母）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唸聲調（音調）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取八音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唸切音（聲母）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呼讀音</a:t>
            </a:r>
          </a:p>
        </p:txBody>
      </p:sp>
    </p:spTree>
    <p:extLst>
      <p:ext uri="{BB962C8B-B14F-4D97-AF65-F5344CB8AC3E}">
        <p14:creationId xmlns:p14="http://schemas.microsoft.com/office/powerpoint/2010/main" val="103765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0BE0-F639-7B07-FB9E-DD7D3E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658C148-4141-7999-1663-9397220A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呼十五音法（反切併音）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EB7674A-6D26-8A5B-F4CC-D8690E694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62" y="3022600"/>
            <a:ext cx="9196562" cy="132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70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EAA2-409C-A924-3B27-F3162F74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A9BE2B79-6BBF-8F4C-E515-3A5DBBA2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40172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方音符號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C598EBF-772C-B3AE-99DE-1AAEBCCFF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3" y="2479595"/>
            <a:ext cx="9574534" cy="1448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69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1F32-5E3C-8655-FB2A-F01AA1DD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4485D44-DD9D-AE5A-205D-AB3439BD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台羅拼音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6EC43F1-A24C-0103-A2AD-D0FB29043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3" y="2326562"/>
            <a:ext cx="9574534" cy="146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0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3BB4-670B-7614-9A28-AEB9BD0B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3C5BCE8-4897-7E5A-D737-F8FF6095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513480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台語注音二式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1C9DC8-6051-A5CA-1C83-D910C001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"/>
          <a:stretch>
            <a:fillRect/>
          </a:stretch>
        </p:blipFill>
        <p:spPr>
          <a:xfrm>
            <a:off x="464457" y="2393595"/>
            <a:ext cx="9405256" cy="143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29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EA79DCEA-052C-B9B7-313F-E32125EF0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9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結束</a:t>
            </a:r>
          </a:p>
        </p:txBody>
      </p:sp>
      <p:sp>
        <p:nvSpPr>
          <p:cNvPr id="9" name="副標題 8">
            <a:extLst>
              <a:ext uri="{FF2B5EF4-FFF2-40B4-BE49-F238E27FC236}">
                <a16:creationId xmlns:a16="http://schemas.microsoft.com/office/drawing/2014/main" id="{F3FE30F3-B352-60DF-8C6B-FD28F7AE6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1213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74AB6D-8C7D-93C6-7860-6696C21E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D22BC8C-9873-802C-D35F-E057ABAA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1327707"/>
            <a:ext cx="9312561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字母八音輸入用舒聲調代促聲調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95A105-D7B6-BBB8-3170-BB8B951CFFA8}"/>
              </a:ext>
            </a:extLst>
          </p:cNvPr>
          <p:cNvSpPr txBox="1"/>
          <p:nvPr/>
        </p:nvSpPr>
        <p:spPr>
          <a:xfrm>
            <a:off x="356234" y="10534073"/>
            <a:ext cx="96450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50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字，只知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；卻不記得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之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時，可用舒聲調之韻母，搭配</a:t>
            </a:r>
            <a:r>
              <a:rPr lang="zh-TW" altLang="en-US" sz="3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輸入按鍵：</a:t>
            </a:r>
            <a:r>
              <a:rPr lang="zh-TW" altLang="en-US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</a:t>
            </a:r>
            <a:r>
              <a:rPr lang="en-US" altLang="zh-TW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 [ 】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en-US" altLang="zh-TW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 ] 】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</a:t>
            </a:r>
            <a:r>
              <a:rPr lang="en-US" altLang="zh-TW" sz="3600" dirty="0">
                <a:solidFill>
                  <a:srgbClr val="FF000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 7 】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代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8E3270-C904-A466-4C84-1D05B7D2CAFC}"/>
              </a:ext>
            </a:extLst>
          </p:cNvPr>
          <p:cNvSpPr txBox="1"/>
          <p:nvPr/>
        </p:nvSpPr>
        <p:spPr>
          <a:xfrm>
            <a:off x="882919" y="2956288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713B6C0-37C2-24D0-2750-59FF3976E0C0}"/>
              </a:ext>
            </a:extLst>
          </p:cNvPr>
          <p:cNvSpPr txBox="1"/>
          <p:nvPr/>
        </p:nvSpPr>
        <p:spPr>
          <a:xfrm>
            <a:off x="1073685" y="2399898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四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D33A206-7956-FF75-004B-812A3961EB28}"/>
              </a:ext>
            </a:extLst>
          </p:cNvPr>
          <p:cNvSpPr txBox="1"/>
          <p:nvPr/>
        </p:nvSpPr>
        <p:spPr>
          <a:xfrm>
            <a:off x="6750319" y="2956288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白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11D51F-7D99-9807-1305-FE42049C7B37}"/>
              </a:ext>
            </a:extLst>
          </p:cNvPr>
          <p:cNvSpPr txBox="1"/>
          <p:nvPr/>
        </p:nvSpPr>
        <p:spPr>
          <a:xfrm>
            <a:off x="6941085" y="2399898"/>
            <a:ext cx="1662629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經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邊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74F8BBB-1201-DB2C-F6AC-6018AC02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753" y="4787466"/>
            <a:ext cx="4460283" cy="531747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2254031-B33A-667A-D028-D328B50A3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72" y="4787466"/>
            <a:ext cx="4460283" cy="531747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FB09444-D72B-8B14-73FF-F2FD783CA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72" y="12717534"/>
            <a:ext cx="4275378" cy="525096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2DDAB1D-9506-D5C1-4F32-BE6A6B53D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12717534"/>
            <a:ext cx="4438650" cy="529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3696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21_TF89338750_Win32" id="{5E9B3395-FFAC-414A-B6B7-CD36791E5293}" vid="{68A61A5A-8CF9-4042-8E4C-8CB5B3ADE9C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19F73-B6C2-4A43-95E2-833EC48925FE}">
  <ds:schemaRefs>
    <ds:schemaRef ds:uri="71af3243-3dd4-4a8d-8c0d-dd76da1f02a5"/>
    <ds:schemaRef ds:uri="16c05727-aa75-4e4a-9b5f-8a80a116589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15750</TotalTime>
  <Words>1693</Words>
  <Application>Microsoft Office PowerPoint</Application>
  <PresentationFormat>自訂</PresentationFormat>
  <Paragraphs>260</Paragraphs>
  <Slides>35</Slides>
  <Notes>33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2" baseType="lpstr">
      <vt:lpstr>Microsoft JhengHei UI</vt:lpstr>
      <vt:lpstr>Noto Sans TC Black</vt:lpstr>
      <vt:lpstr>Noto Sans TC Medium</vt:lpstr>
      <vt:lpstr>Noto Serif TC Black</vt:lpstr>
      <vt:lpstr>Arial</vt:lpstr>
      <vt:lpstr>Charis SIL</vt:lpstr>
      <vt:lpstr>GradientUnivers</vt:lpstr>
      <vt:lpstr>十五音輸入法簡介 v0.1</vt:lpstr>
      <vt:lpstr>PowerPoint 簡報</vt:lpstr>
      <vt:lpstr>漢字標音</vt:lpstr>
      <vt:lpstr>十五音漢字標音</vt:lpstr>
      <vt:lpstr>十五音輸入法按鍵配置</vt:lpstr>
      <vt:lpstr>十五音輸入法按鍵配置</vt:lpstr>
      <vt:lpstr>十五音漢字標音</vt:lpstr>
      <vt:lpstr>切音 15 字（聲母總表）</vt:lpstr>
      <vt:lpstr>字母 50 字（韻母總表）</vt:lpstr>
      <vt:lpstr>十五音輸入法特性</vt:lpstr>
      <vt:lpstr>十五音輸入法種類</vt:lpstr>
      <vt:lpstr>十五音輸入法操作介面</vt:lpstr>
      <vt:lpstr>十五音輸入法特性</vt:lpstr>
      <vt:lpstr>音調略去簡化</vt:lpstr>
      <vt:lpstr>字母八音促聲調模糊化</vt:lpstr>
      <vt:lpstr>十五音打字練習【方音符號】</vt:lpstr>
      <vt:lpstr>十五音打字練習【台語注音二式】</vt:lpstr>
      <vt:lpstr>十五音打字練習【台羅拼音】</vt:lpstr>
      <vt:lpstr>《彙集雅俗通十五音》</vt:lpstr>
      <vt:lpstr>字母 50 字（韻母）</vt:lpstr>
      <vt:lpstr>字母 50 字（韻母）</vt:lpstr>
      <vt:lpstr>字母 50 字（韻母）</vt:lpstr>
      <vt:lpstr>字母 50 字（韻母）</vt:lpstr>
      <vt:lpstr>字母 50 字（韻母）</vt:lpstr>
      <vt:lpstr>字母分八音速記法</vt:lpstr>
      <vt:lpstr>切音 15 字（聲母）</vt:lpstr>
      <vt:lpstr>切音 15 字（聲母）（發音部位）</vt:lpstr>
      <vt:lpstr>切音 15 字（聲母）（發音部位）</vt:lpstr>
      <vt:lpstr>呼十五音法（反切併音）</vt:lpstr>
      <vt:lpstr>呼十五音法（反切併音）</vt:lpstr>
      <vt:lpstr>呼十五音法演練【方音符號】</vt:lpstr>
      <vt:lpstr>呼十五音法演練【台羅拼音】</vt:lpstr>
      <vt:lpstr>呼十五音法演練【台語注音二式】</vt:lpstr>
      <vt:lpstr>結束</vt:lpstr>
      <vt:lpstr>字母八音輸入用舒聲調代促聲調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140</cp:revision>
  <dcterms:created xsi:type="dcterms:W3CDTF">2025-04-24T04:27:30Z</dcterms:created>
  <dcterms:modified xsi:type="dcterms:W3CDTF">2026-08-26T03:57:37Z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