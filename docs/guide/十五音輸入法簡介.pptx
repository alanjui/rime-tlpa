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32"/>
  </p:notesMasterIdLst>
  <p:handoutMasterIdLst>
    <p:handoutMasterId r:id="rId33"/>
  </p:handoutMasterIdLst>
  <p:sldIdLst>
    <p:sldId id="306" r:id="rId5"/>
    <p:sldId id="401" r:id="rId6"/>
    <p:sldId id="368" r:id="rId7"/>
    <p:sldId id="417" r:id="rId8"/>
    <p:sldId id="418" r:id="rId9"/>
    <p:sldId id="419" r:id="rId10"/>
    <p:sldId id="420" r:id="rId11"/>
    <p:sldId id="421" r:id="rId12"/>
    <p:sldId id="422" r:id="rId13"/>
    <p:sldId id="416" r:id="rId14"/>
    <p:sldId id="340" r:id="rId15"/>
    <p:sldId id="328" r:id="rId16"/>
    <p:sldId id="400" r:id="rId17"/>
    <p:sldId id="393" r:id="rId18"/>
    <p:sldId id="395" r:id="rId19"/>
    <p:sldId id="396" r:id="rId20"/>
    <p:sldId id="322" r:id="rId21"/>
    <p:sldId id="341" r:id="rId22"/>
    <p:sldId id="327" r:id="rId23"/>
    <p:sldId id="392" r:id="rId24"/>
    <p:sldId id="343" r:id="rId25"/>
    <p:sldId id="336" r:id="rId26"/>
    <p:sldId id="415" r:id="rId27"/>
    <p:sldId id="390" r:id="rId28"/>
    <p:sldId id="389" r:id="rId29"/>
    <p:sldId id="391" r:id="rId30"/>
    <p:sldId id="397" r:id="rId31"/>
  </p:sldIdLst>
  <p:sldSz cx="10287000" cy="18288000"/>
  <p:notesSz cx="6858000" cy="9144000"/>
  <p:defaultTextStyle>
    <a:defPPr rtl="0"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04" userDrawn="1">
          <p15:clr>
            <a:srgbClr val="A4A3A4"/>
          </p15:clr>
        </p15:guide>
        <p15:guide id="2" pos="314" userDrawn="1">
          <p15:clr>
            <a:srgbClr val="A4A3A4"/>
          </p15:clr>
        </p15:guide>
        <p15:guide id="3" orient="horz" pos="11339" userDrawn="1">
          <p15:clr>
            <a:srgbClr val="A4A3A4"/>
          </p15:clr>
        </p15:guide>
        <p15:guide id="4" pos="6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0" autoAdjust="0"/>
    <p:restoredTop sz="76997" autoAdjust="0"/>
  </p:normalViewPr>
  <p:slideViewPr>
    <p:cSldViewPr snapToGrid="0">
      <p:cViewPr varScale="1">
        <p:scale>
          <a:sx n="50" d="100"/>
          <a:sy n="50" d="100"/>
        </p:scale>
        <p:origin x="48" y="888"/>
      </p:cViewPr>
      <p:guideLst>
        <p:guide orient="horz" pos="1904"/>
        <p:guide pos="314"/>
        <p:guide orient="horz" pos="11339"/>
        <p:guide pos="6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-24234"/>
    </p:cViewPr>
  </p:sorterViewPr>
  <p:notesViewPr>
    <p:cSldViewPr snapToGrid="0">
      <p:cViewPr varScale="1">
        <p:scale>
          <a:sx n="87" d="100"/>
          <a:sy n="87" d="100"/>
        </p:scale>
        <p:origin x="381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1C7BD883-E570-4B0F-9E18-F89D060514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F7825A8-A57B-43B0-BA2C-78F0335611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94DE4D-4E38-4D8C-8D32-A26C2FA8CED4}" type="datetime1">
              <a:rPr lang="zh-TW" altLang="en-US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2026/8/23</a:t>
            </a:fld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2404714-211C-45BF-8164-268C01DCBD7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36E2E20-ED21-467B-ABCD-FF8842D9D1E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AB8736-D8EB-47F3-A4C4-7D5F34ACE92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‹#›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24491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預留位置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6EB2F747-81C0-41F9-A53E-9239588F4D56}" type="datetime1">
              <a:rPr lang="zh-TW" altLang="en-US" smtClean="0"/>
              <a:pPr/>
              <a:t>2026/8/23</a:t>
            </a:fld>
            <a:endParaRPr lang="zh-TW" altLang="en-US" dirty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TW" altLang="en-US" noProof="0"/>
          </a:p>
        </p:txBody>
      </p:sp>
      <p:sp>
        <p:nvSpPr>
          <p:cNvPr id="5" name="備忘稿預留位置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6" name="頁尾預留位置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5939589-3E79-4C82-AA4A-FE78234FAA59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5.xm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4" Type="http://schemas.openxmlformats.org/officeDocument/2006/relationships/slide" Target="../slides/slide2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2652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8420D-8D7C-50E4-A87A-0B909ED53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F5442DE-CD47-ED48-98C6-50B5FE41D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B460EB-20D2-C00F-B52C-2D0DE8006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FB48A9F-0F1C-7F72-9FDE-E5D2DBB01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4299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E776B-F45B-5CB5-1E59-D4611AF8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D2DA2DA-E1AF-D564-9585-EED231C96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1E0DC7-52B6-FC6E-BAA1-642702CEB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ED3B82-A851-3859-AF62-8D70A4FED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3902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227A-316E-7FDC-D1C7-A90670306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BE7C88-4D5C-7A1D-C0F2-64C91D6D84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750F7E-5BA1-1A28-176C-084339E0C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E2077-417F-3989-5E7C-90F49F893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71272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F3AC9-A498-2BBC-7CC6-27FAFE92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242872D-7D5F-B6E0-006F-671B32CA7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0187437-DF03-529B-744E-1C67311A8C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C5D527-879B-7633-C553-A28D06F6BE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63370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86ABE-221C-9407-18C3-8F2EA8924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33890FF-4E1C-9513-546C-46FC59611E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1C57D9A-9FD3-4972-9146-83587725F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0389BD-0228-0DEF-F075-9E8A618265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60340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A5C1-9A02-E466-C49F-719036786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92753B-20A4-1E33-0BAD-6C4BEEDEC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27E192-DBAF-ABD8-F19E-C656F9C69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9DE5A0-55C8-A197-1872-252DE9D65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899615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F709-6F9E-C193-C9CA-B3F325F72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00AB820-FC74-035F-1279-942F1657E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FB5D9A4-4AD3-B272-9F4B-8E971E6A7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8EACFB-14B2-5524-50F4-6BA5BFD6D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749173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2EE1-5949-10B9-9FD9-E34657189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6949397-8D0A-47C7-4668-1A8C64E9B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36A0401-9EC6-B1DF-8900-6E454AAC3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經過先前的介紹，在此先做一總結：欲熟悉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之使用，作為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漢字讀音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標注工具，首先需學習的四大目標為：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字母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 50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字（韻母）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50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字母分八音（音調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/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聲調）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切音 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15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字（聲母）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呼十五音法</a:t>
            </a:r>
            <a:endParaRPr lang="zh-TW" altLang="en-US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5D935E-F10B-BF89-2C43-65488248F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56729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7E6D8-D5C7-8D92-FA7E-F27F6D4BD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AFC80D-CFA7-C0CC-76FB-8593B46A2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43F3A9-B6AB-AE88-4A5B-F04E100DB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五十字母清單，熟練到：視字知韻。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分：舒聲韻、促聲韻。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ee [ɛ]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 [e]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[ẽ]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[ɛ̃]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[ɔ] 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oo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õu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ɔ̃ʔ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字韻棄用，併入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ik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ing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ik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ɛk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222BEC-CC1B-E06C-E27C-7297884BA8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09940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29C67-0039-5EF7-6B95-3DDF7B94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52B37-5039-8CD5-9E3B-3FA46F525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0B6E29-237E-6F91-4427-0EA31A7FA2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列舉：每個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舒聲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促聲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韻；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現今優勢腔之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雅俗通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：屬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羅馬字母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漢語拼音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美語自然發音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閩拼方案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注音二式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方音符號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6D5FB6-FB47-535B-BD2E-7D31409CF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852075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64A92-3B4F-FC59-A87C-864F05193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9A6BEE9-F459-5A48-20C7-AC7BE52CD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3D38C5E-B143-324E-FF48-82BA7F5D2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C83C70-6871-02E8-D889-C90C0A92D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935062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8D7D8-5242-360B-12F8-C0F39DF6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310C39-6ED1-16BF-D954-23AEED270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3A3505-B917-3643-0BE5-6EDC7F699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2793E3-6601-6C4B-4EF4-CC26D6E57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807588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9F43A-6717-595D-2001-E5293728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ACD0835-D375-3155-C752-8C188B807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8CFB9C2-679D-DCDF-DFFE-90075F362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DC88D-C231-90A1-CA40-EC0E30D1B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146603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F0E3-582F-DE81-A589-EF5A2D0E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73412F-1E4C-ECB8-898D-2415A1DF44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3EFAF0-CB68-42C7-7F5A-2B85CB1D8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AB2369-DB4F-6AD9-C1E7-B5779EA7B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564780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D9EE-05EA-A43D-4E66-028EBC0B5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A046A1-F800-7766-17DB-9A968F94E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5D4F594-91D6-6734-334F-0BA81BA20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W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八調五度標記助記法：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1 7 3 2 5 4 8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/1</a:t>
            </a: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中音調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/7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/3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高降調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上声調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/2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低升調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/5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/4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/8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0C8772B-74B4-DDED-D4B7-76FBC2777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597963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309D-CCD9-3589-1397-98D0C30E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16F4A6B-7171-3F20-26E9-04BDB13E61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88D876B-6ADF-FD7E-07AD-0EEAEC44A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06CF1D-0C4D-ED44-9935-91B0AF076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855090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AA496-0043-FF05-3273-676162EEE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7F5233-344E-DD04-9B73-3488A7745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6402C7D-92AF-5CF5-0FE3-06CD946F8B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柳分：柳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(l)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、耐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(n)</a:t>
            </a:r>
          </a:p>
          <a:p>
            <a:pPr marL="228600" indent="-228600"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門分：門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(b)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(m)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語分：語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(ng 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、雅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(g)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E6713A4-E91C-A842-B190-E5FA3856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337470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24AB-0236-7717-B79B-E1533F341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97CBE05-9916-95CD-D5B7-EBBD14ABA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6BAD35-8229-8F7C-B572-F64554D7B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C5DB17-ADB6-824A-82CB-F8946F5A19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472635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56937-5ECA-BDB9-5540-BBA6A8678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5124FE2-28F6-FB85-DB72-CF96AD15F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C30620-1C45-16D2-1477-80D1D8CE0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5522C9-006A-D2FB-8977-55F8B7709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455808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86A77-DB83-D80A-6158-4778799EE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D8308-DB22-5E2B-CFA2-4F2DDE2F5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3BE636-C03E-0F8A-9D77-142D93538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A65088-46C5-21E0-C744-BB05F9E04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802378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A90C1-E537-FE6B-EC0A-73935A655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D844790-F1DE-0E68-C2FF-E303C9CF8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7E4F3D-57BE-0BF7-12C5-1BAE5FE0C3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2B920E-CDC8-93A8-4EC8-F09A3DD6A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765616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32FEB-4F80-8EF7-FB40-6A8FA90C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7928F57-8089-D12A-758F-E602884BD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F14239B-2450-8CEF-4A54-D43B814FD9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AC591D-965D-C227-59B4-A573688EAD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432474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6BFCA-AEBE-5CE9-E6D8-6936D0BFA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6E86BF5-C82A-62FC-C8F4-0A86884C4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0ECE38-FDD4-087F-E11C-30E07D408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0965BF-7A00-4358-EE05-9296FEF8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694667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9A584-6D39-E4B7-3B19-4B0F1C1E7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305888-26D9-CA66-6B5B-EA08F8063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98B232F-E4D3-B1E8-B2D9-FC7B0D66B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62D498-5E31-A63B-C5F3-69BD1BA0A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35726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875" y="2992968"/>
            <a:ext cx="7715250" cy="6366933"/>
          </a:xfrm>
        </p:spPr>
        <p:txBody>
          <a:bodyPr rtlCol="0" anchor="b"/>
          <a:lstStyle>
            <a:lvl1pPr algn="l">
              <a:defRPr sz="5063" b="1" i="0" cap="all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5875" y="9605435"/>
            <a:ext cx="7715250" cy="4415365"/>
          </a:xfrm>
        </p:spPr>
        <p:txBody>
          <a:bodyPr rtlCol="0"/>
          <a:lstStyle>
            <a:lvl1pPr marL="0" indent="0" algn="l">
              <a:buNone/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cxnSp>
        <p:nvCxnSpPr>
          <p:cNvPr id="11" name="直線接點​​(S)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604032" y="2970801"/>
            <a:ext cx="0" cy="1529503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78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 2 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5565" y="1584960"/>
            <a:ext cx="5292662" cy="7583424"/>
          </a:xfrm>
        </p:spPr>
        <p:txBody>
          <a:bodyPr rtlCol="0" anchor="b"/>
          <a:lstStyle>
            <a:lvl1pPr algn="l">
              <a:defRPr sz="4557" b="1" i="0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0309" y="12533376"/>
            <a:ext cx="4297394" cy="3194304"/>
          </a:xfrm>
        </p:spPr>
        <p:txBody>
          <a:bodyPr rtlCol="0">
            <a:normAutofit/>
          </a:bodyPr>
          <a:lstStyle>
            <a:lvl1pPr marL="0" indent="0" algn="r">
              <a:buNone/>
              <a:defRPr sz="1688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8E825845-66DD-4B77-A729-CD97D156FE6C}"/>
              </a:ext>
            </a:extLst>
          </p:cNvPr>
          <p:cNvCxnSpPr>
            <a:cxnSpLocks/>
          </p:cNvCxnSpPr>
          <p:nvPr userDrawn="1"/>
        </p:nvCxnSpPr>
        <p:spPr>
          <a:xfrm>
            <a:off x="1097940" y="9323525"/>
            <a:ext cx="0" cy="8940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圖形 12">
            <a:extLst>
              <a:ext uri="{FF2B5EF4-FFF2-40B4-BE49-F238E27FC236}">
                <a16:creationId xmlns:a16="http://schemas.microsoft.com/office/drawing/2014/main" id="{818B4386-1FCF-4ACE-BE25-AF9CC5E2256F}"/>
              </a:ext>
            </a:extLst>
          </p:cNvPr>
          <p:cNvSpPr/>
          <p:nvPr userDrawn="1"/>
        </p:nvSpPr>
        <p:spPr>
          <a:xfrm>
            <a:off x="6933752" y="7930240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1" name="圖形 13">
            <a:extLst>
              <a:ext uri="{FF2B5EF4-FFF2-40B4-BE49-F238E27FC236}">
                <a16:creationId xmlns:a16="http://schemas.microsoft.com/office/drawing/2014/main" id="{19319560-50ED-4963-A2CF-74663239D426}"/>
              </a:ext>
            </a:extLst>
          </p:cNvPr>
          <p:cNvSpPr/>
          <p:nvPr userDrawn="1"/>
        </p:nvSpPr>
        <p:spPr>
          <a:xfrm>
            <a:off x="6631033" y="7318789"/>
            <a:ext cx="117313" cy="37076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3" name="圖形 15">
            <a:extLst>
              <a:ext uri="{FF2B5EF4-FFF2-40B4-BE49-F238E27FC236}">
                <a16:creationId xmlns:a16="http://schemas.microsoft.com/office/drawing/2014/main" id="{E5ABBDAD-943D-48F3-9C80-B29C48966C79}"/>
              </a:ext>
            </a:extLst>
          </p:cNvPr>
          <p:cNvSpPr/>
          <p:nvPr userDrawn="1"/>
        </p:nvSpPr>
        <p:spPr>
          <a:xfrm>
            <a:off x="6617921" y="8528708"/>
            <a:ext cx="107758" cy="340568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圖片版面配置區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52927" y="6746823"/>
            <a:ext cx="3128601" cy="9887923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350" b="1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9977" y="1560576"/>
            <a:ext cx="4922330" cy="6071616"/>
          </a:xfrm>
        </p:spPr>
        <p:txBody>
          <a:bodyPr rtlCol="0" anchor="b"/>
          <a:lstStyle>
            <a:lvl1pPr algn="r">
              <a:defRPr sz="5063" b="1" cap="all" spc="3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3004899" y="5502206"/>
            <a:ext cx="7437120" cy="308074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65194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4" name="直線接點​​(S)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722346" y="9341419"/>
            <a:ext cx="0" cy="892290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977" y="8339328"/>
            <a:ext cx="4922330" cy="8314944"/>
          </a:xfrm>
        </p:spPr>
        <p:txBody>
          <a:bodyPr rtlCol="0"/>
          <a:lstStyle>
            <a:lvl1pPr marL="0" indent="0" algn="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1" name="圖形 12">
            <a:extLst>
              <a:ext uri="{FF2B5EF4-FFF2-40B4-BE49-F238E27FC236}">
                <a16:creationId xmlns:a16="http://schemas.microsoft.com/office/drawing/2014/main" id="{EA1B6985-3E5A-40F4-9268-D4AB3BBF8C91}"/>
              </a:ext>
            </a:extLst>
          </p:cNvPr>
          <p:cNvSpPr/>
          <p:nvPr userDrawn="1"/>
        </p:nvSpPr>
        <p:spPr>
          <a:xfrm>
            <a:off x="4003926" y="7360739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形 13">
            <a:extLst>
              <a:ext uri="{FF2B5EF4-FFF2-40B4-BE49-F238E27FC236}">
                <a16:creationId xmlns:a16="http://schemas.microsoft.com/office/drawing/2014/main" id="{338BC906-9D03-4280-85E8-21A81BC21D73}"/>
              </a:ext>
            </a:extLst>
          </p:cNvPr>
          <p:cNvSpPr/>
          <p:nvPr userDrawn="1"/>
        </p:nvSpPr>
        <p:spPr>
          <a:xfrm>
            <a:off x="3701206" y="6749287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7" name="圖形 15">
            <a:extLst>
              <a:ext uri="{FF2B5EF4-FFF2-40B4-BE49-F238E27FC236}">
                <a16:creationId xmlns:a16="http://schemas.microsoft.com/office/drawing/2014/main" id="{C5C06D53-C9F6-47E8-BFE1-B8193A1AED8B}"/>
              </a:ext>
            </a:extLst>
          </p:cNvPr>
          <p:cNvSpPr/>
          <p:nvPr userDrawn="1"/>
        </p:nvSpPr>
        <p:spPr>
          <a:xfrm>
            <a:off x="1409051" y="16084192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87595" y="4441387"/>
            <a:ext cx="3600248" cy="1137858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942" y="3560064"/>
            <a:ext cx="5223224" cy="3145536"/>
          </a:xfrm>
        </p:spPr>
        <p:txBody>
          <a:bodyPr lIns="91440" tIns="45720" rIns="91440" bIns="45720" rtlCol="0" anchor="b"/>
          <a:lstStyle>
            <a:lvl1pPr>
              <a:defRPr sz="455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18" y="7534656"/>
            <a:ext cx="5223224" cy="8924544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92893"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385785"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578678"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19983" y="1658113"/>
            <a:ext cx="3471863" cy="973667"/>
          </a:xfrm>
        </p:spPr>
        <p:txBody>
          <a:bodyPr rtlCol="0"/>
          <a:lstStyle>
            <a:lvl1pPr>
              <a:defRPr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2150587"/>
            <a:ext cx="6668766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875" y="3901440"/>
            <a:ext cx="7715250" cy="6242304"/>
          </a:xfrm>
        </p:spPr>
        <p:txBody>
          <a:bodyPr rtlCol="0" anchor="b">
            <a:normAutofit/>
          </a:bodyPr>
          <a:lstStyle>
            <a:lvl1pPr algn="ctr">
              <a:defRPr sz="5063" b="1" i="0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8447" y="10290048"/>
            <a:ext cx="7715250" cy="3535680"/>
          </a:xfrm>
        </p:spPr>
        <p:txBody>
          <a:bodyPr rtlCol="0">
            <a:normAutofit/>
          </a:bodyPr>
          <a:lstStyle>
            <a:lvl1pPr marL="0" indent="0" algn="ctr">
              <a:buNone/>
              <a:defRPr sz="1688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4" name="圖形 12">
            <a:extLst>
              <a:ext uri="{FF2B5EF4-FFF2-40B4-BE49-F238E27FC236}">
                <a16:creationId xmlns:a16="http://schemas.microsoft.com/office/drawing/2014/main" id="{8A41917E-4B97-447C-98AB-970D625F1DE6}"/>
              </a:ext>
            </a:extLst>
          </p:cNvPr>
          <p:cNvSpPr/>
          <p:nvPr userDrawn="1"/>
        </p:nvSpPr>
        <p:spPr>
          <a:xfrm>
            <a:off x="9089099" y="8144957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圖形 13">
            <a:extLst>
              <a:ext uri="{FF2B5EF4-FFF2-40B4-BE49-F238E27FC236}">
                <a16:creationId xmlns:a16="http://schemas.microsoft.com/office/drawing/2014/main" id="{3B3FD238-4561-4AF8-A1F1-185B0CAFE2AC}"/>
              </a:ext>
            </a:extLst>
          </p:cNvPr>
          <p:cNvSpPr/>
          <p:nvPr userDrawn="1"/>
        </p:nvSpPr>
        <p:spPr>
          <a:xfrm>
            <a:off x="9048683" y="6708903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圖形 15">
            <a:extLst>
              <a:ext uri="{FF2B5EF4-FFF2-40B4-BE49-F238E27FC236}">
                <a16:creationId xmlns:a16="http://schemas.microsoft.com/office/drawing/2014/main" id="{BAB9414C-AE69-4648-873E-9CE6B2DF8A71}"/>
              </a:ext>
            </a:extLst>
          </p:cNvPr>
          <p:cNvSpPr/>
          <p:nvPr userDrawn="1"/>
        </p:nvSpPr>
        <p:spPr>
          <a:xfrm>
            <a:off x="9302204" y="7433525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圖形 22">
            <a:extLst>
              <a:ext uri="{FF2B5EF4-FFF2-40B4-BE49-F238E27FC236}">
                <a16:creationId xmlns:a16="http://schemas.microsoft.com/office/drawing/2014/main" id="{3BF75235-4E6E-4184-82A5-EE6FE7993BBC}"/>
              </a:ext>
            </a:extLst>
          </p:cNvPr>
          <p:cNvSpPr/>
          <p:nvPr userDrawn="1"/>
        </p:nvSpPr>
        <p:spPr>
          <a:xfrm>
            <a:off x="1064702" y="7022528"/>
            <a:ext cx="127859" cy="40409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1" name="圖形 21">
            <a:extLst>
              <a:ext uri="{FF2B5EF4-FFF2-40B4-BE49-F238E27FC236}">
                <a16:creationId xmlns:a16="http://schemas.microsoft.com/office/drawing/2014/main" id="{E66FE37C-2F4B-42DA-BFF6-92DD00BDC49B}"/>
              </a:ext>
            </a:extLst>
          </p:cNvPr>
          <p:cNvSpPr/>
          <p:nvPr userDrawn="1"/>
        </p:nvSpPr>
        <p:spPr>
          <a:xfrm>
            <a:off x="897795" y="8222236"/>
            <a:ext cx="80797" cy="255357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形 23">
            <a:extLst>
              <a:ext uri="{FF2B5EF4-FFF2-40B4-BE49-F238E27FC236}">
                <a16:creationId xmlns:a16="http://schemas.microsoft.com/office/drawing/2014/main" id="{DDD38822-731A-48DA-A8A0-FBBAF7A6D65D}"/>
              </a:ext>
            </a:extLst>
          </p:cNvPr>
          <p:cNvSpPr/>
          <p:nvPr userDrawn="1"/>
        </p:nvSpPr>
        <p:spPr>
          <a:xfrm>
            <a:off x="1192561" y="9314321"/>
            <a:ext cx="91652" cy="289667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42482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 sz="455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預留位置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960" y="2243328"/>
            <a:ext cx="3741896" cy="8631936"/>
          </a:xfrm>
        </p:spPr>
        <p:txBody>
          <a:bodyPr rtlCol="0" anchor="b"/>
          <a:lstStyle>
            <a:lvl1pPr algn="l">
              <a:lnSpc>
                <a:spcPct val="110000"/>
              </a:lnSpc>
              <a:spcBef>
                <a:spcPts val="844"/>
              </a:spcBef>
              <a:defRPr sz="3038" b="0" i="0" cap="none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92959" y="11996928"/>
            <a:ext cx="3741892" cy="1361264"/>
          </a:xfrm>
        </p:spPr>
        <p:txBody>
          <a:bodyPr rtlCol="0"/>
          <a:lstStyle>
            <a:lvl1pPr marL="0" indent="0" algn="l">
              <a:lnSpc>
                <a:spcPct val="110000"/>
              </a:lnSpc>
              <a:buNone/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5044726" y="4575614"/>
            <a:ext cx="9460992" cy="308074"/>
          </a:xfrm>
        </p:spPr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(S)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9775824" y="9651392"/>
            <a:ext cx="0" cy="863660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4876800" cy="1828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片版面配置區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9173" y="804672"/>
            <a:ext cx="4405408" cy="16703040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1299048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標題與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61" y="973668"/>
            <a:ext cx="9088565" cy="3534835"/>
          </a:xfrm>
        </p:spPr>
        <p:txBody>
          <a:bodyPr rtlCol="0"/>
          <a:lstStyle>
            <a:lvl1pPr>
              <a:defRPr sz="4557" b="1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61" y="4868333"/>
            <a:ext cx="9088565" cy="11603568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16950268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75183" y="2243329"/>
            <a:ext cx="3062954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9" name="圖形 22">
            <a:extLst>
              <a:ext uri="{FF2B5EF4-FFF2-40B4-BE49-F238E27FC236}">
                <a16:creationId xmlns:a16="http://schemas.microsoft.com/office/drawing/2014/main" id="{4EADA2ED-8A8C-4D17-8798-F26BF3B4CE25}"/>
              </a:ext>
            </a:extLst>
          </p:cNvPr>
          <p:cNvSpPr/>
          <p:nvPr userDrawn="1"/>
        </p:nvSpPr>
        <p:spPr>
          <a:xfrm>
            <a:off x="9451910" y="917555"/>
            <a:ext cx="127859" cy="40409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1" name="圖形 23">
            <a:extLst>
              <a:ext uri="{FF2B5EF4-FFF2-40B4-BE49-F238E27FC236}">
                <a16:creationId xmlns:a16="http://schemas.microsoft.com/office/drawing/2014/main" id="{54AB3A25-6605-4446-9E53-ACEECD25E27B}"/>
              </a:ext>
            </a:extLst>
          </p:cNvPr>
          <p:cNvSpPr/>
          <p:nvPr userDrawn="1"/>
        </p:nvSpPr>
        <p:spPr>
          <a:xfrm>
            <a:off x="9756401" y="1575761"/>
            <a:ext cx="91652" cy="289667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26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009" y="4868333"/>
            <a:ext cx="3842195" cy="11603568"/>
          </a:xfrm>
        </p:spPr>
        <p:txBody>
          <a:bodyPr rtlCol="0">
            <a:normAutofit/>
          </a:bodyPr>
          <a:lstStyle>
            <a:lvl1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24715" y="4868333"/>
            <a:ext cx="3842195" cy="11603568"/>
          </a:xfrm>
        </p:spPr>
        <p:txBody>
          <a:bodyPr rtlCol="0">
            <a:normAutofit/>
          </a:bodyPr>
          <a:lstStyle>
            <a:lvl1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圖形 15">
            <a:extLst>
              <a:ext uri="{FF2B5EF4-FFF2-40B4-BE49-F238E27FC236}">
                <a16:creationId xmlns:a16="http://schemas.microsoft.com/office/drawing/2014/main" id="{D8685329-C6A1-4CB4-8AAE-150D0341F6A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2" name="圖形 16">
            <a:extLst>
              <a:ext uri="{FF2B5EF4-FFF2-40B4-BE49-F238E27FC236}">
                <a16:creationId xmlns:a16="http://schemas.microsoft.com/office/drawing/2014/main" id="{83CE1DAA-30A3-41AE-8AE1-A7EE5C48A6F3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4">
            <a:extLst>
              <a:ext uri="{FF2B5EF4-FFF2-40B4-BE49-F238E27FC236}">
                <a16:creationId xmlns:a16="http://schemas.microsoft.com/office/drawing/2014/main" id="{065162DD-7ACB-4F9C-90DD-24C743035892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5288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1" y="973668"/>
            <a:ext cx="8872538" cy="3534835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009" y="4483101"/>
            <a:ext cx="3842195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9009" y="6680200"/>
            <a:ext cx="3842195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24715" y="4483101"/>
            <a:ext cx="3842195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預留位置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24715" y="6680200"/>
            <a:ext cx="3842195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圖形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6" name="圖形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1" y="973668"/>
            <a:ext cx="8872538" cy="3534835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009" y="448310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9009" y="6680200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04811" y="448310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04811" y="6680200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圖形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6" name="圖形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5" name="文字預留位置 4">
            <a:extLst>
              <a:ext uri="{FF2B5EF4-FFF2-40B4-BE49-F238E27FC236}">
                <a16:creationId xmlns:a16="http://schemas.microsoft.com/office/drawing/2014/main" id="{2D693B15-7265-4478-9579-62FCD522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8328" y="471805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7" name="內容版面配置區 5">
            <a:extLst>
              <a:ext uri="{FF2B5EF4-FFF2-40B4-BE49-F238E27FC236}">
                <a16:creationId xmlns:a16="http://schemas.microsoft.com/office/drawing/2014/main" id="{48F9E92F-BB16-4896-A47F-6497C3D705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8328" y="6915149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</p:spTree>
    <p:extLst>
      <p:ext uri="{BB962C8B-B14F-4D97-AF65-F5344CB8AC3E}">
        <p14:creationId xmlns:p14="http://schemas.microsoft.com/office/powerpoint/2010/main" val="237307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2960" y="2145792"/>
            <a:ext cx="3741896" cy="2365248"/>
          </a:xfrm>
        </p:spPr>
        <p:txBody>
          <a:bodyPr rtlCol="0" anchor="b"/>
          <a:lstStyle>
            <a:lvl1pPr algn="l">
              <a:defRPr sz="4557" b="0" i="0" cap="none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92958" y="4803648"/>
            <a:ext cx="3741896" cy="12679680"/>
          </a:xfrm>
        </p:spPr>
        <p:txBody>
          <a:bodyPr rtlCol="0">
            <a:normAutofit/>
          </a:bodyPr>
          <a:lstStyle>
            <a:lvl1pPr marL="0" indent="0" algn="l">
              <a:lnSpc>
                <a:spcPct val="110000"/>
              </a:lnSpc>
              <a:buNone/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5044726" y="4575614"/>
            <a:ext cx="9460992" cy="308074"/>
          </a:xfrm>
        </p:spPr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(S)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9775824" y="9651392"/>
            <a:ext cx="0" cy="863660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4876800" cy="1828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片版面配置區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9173" y="8290560"/>
            <a:ext cx="4405408" cy="9192768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0" name="圖片版面配置區 12">
            <a:extLst>
              <a:ext uri="{FF2B5EF4-FFF2-40B4-BE49-F238E27FC236}">
                <a16:creationId xmlns:a16="http://schemas.microsoft.com/office/drawing/2014/main" id="{F146D6C1-343E-4F97-A565-55BBB15F4C7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39173" y="804672"/>
            <a:ext cx="2075402" cy="6681216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1" name="圖片版面配置區 12">
            <a:extLst>
              <a:ext uri="{FF2B5EF4-FFF2-40B4-BE49-F238E27FC236}">
                <a16:creationId xmlns:a16="http://schemas.microsoft.com/office/drawing/2014/main" id="{BA123E2D-4554-47D5-B0EC-0C47EDB416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69178" y="804672"/>
            <a:ext cx="2075402" cy="6681216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1257891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圖片版面配置區 32">
            <a:extLst>
              <a:ext uri="{FF2B5EF4-FFF2-40B4-BE49-F238E27FC236}">
                <a16:creationId xmlns:a16="http://schemas.microsoft.com/office/drawing/2014/main" id="{3186EA6A-5CD5-4DF7-9C8A-EDFAF28A80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99438" y="1086666"/>
            <a:ext cx="1647235" cy="5206077"/>
          </a:xfrm>
          <a:custGeom>
            <a:avLst/>
            <a:gdLst>
              <a:gd name="connsiteX0" fmla="*/ 976140 w 1952279"/>
              <a:gd name="connsiteY0" fmla="*/ 0 h 1952279"/>
              <a:gd name="connsiteX1" fmla="*/ 1952279 w 1952279"/>
              <a:gd name="connsiteY1" fmla="*/ 976140 h 1952279"/>
              <a:gd name="connsiteX2" fmla="*/ 976140 w 1952279"/>
              <a:gd name="connsiteY2" fmla="*/ 1952279 h 1952279"/>
              <a:gd name="connsiteX3" fmla="*/ 0 w 1952279"/>
              <a:gd name="connsiteY3" fmla="*/ 976140 h 1952279"/>
              <a:gd name="connsiteX4" fmla="*/ 976140 w 1952279"/>
              <a:gd name="connsiteY4" fmla="*/ 0 h 1952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2279" h="1952279">
                <a:moveTo>
                  <a:pt x="976140" y="0"/>
                </a:moveTo>
                <a:cubicBezTo>
                  <a:pt x="1515247" y="0"/>
                  <a:pt x="1952279" y="437033"/>
                  <a:pt x="1952279" y="976140"/>
                </a:cubicBezTo>
                <a:cubicBezTo>
                  <a:pt x="1952279" y="1515246"/>
                  <a:pt x="1515247" y="1952279"/>
                  <a:pt x="976140" y="1952279"/>
                </a:cubicBezTo>
                <a:cubicBezTo>
                  <a:pt x="437033" y="1952279"/>
                  <a:pt x="0" y="1515246"/>
                  <a:pt x="0" y="976140"/>
                </a:cubicBezTo>
                <a:cubicBezTo>
                  <a:pt x="0" y="437033"/>
                  <a:pt x="437033" y="0"/>
                  <a:pt x="976140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2" name="圖片版面配置區 31">
            <a:extLst>
              <a:ext uri="{FF2B5EF4-FFF2-40B4-BE49-F238E27FC236}">
                <a16:creationId xmlns:a16="http://schemas.microsoft.com/office/drawing/2014/main" id="{83D5117F-F235-498D-99A5-9DE2D66557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77042" y="5260216"/>
            <a:ext cx="1932242" cy="6062672"/>
          </a:xfrm>
          <a:custGeom>
            <a:avLst/>
            <a:gdLst>
              <a:gd name="connsiteX0" fmla="*/ 1145032 w 2290065"/>
              <a:gd name="connsiteY0" fmla="*/ 0 h 2273502"/>
              <a:gd name="connsiteX1" fmla="*/ 2290065 w 2290065"/>
              <a:gd name="connsiteY1" fmla="*/ 1145033 h 2273502"/>
              <a:gd name="connsiteX2" fmla="*/ 1375797 w 2290065"/>
              <a:gd name="connsiteY2" fmla="*/ 2266803 h 2273502"/>
              <a:gd name="connsiteX3" fmla="*/ 1331903 w 2290065"/>
              <a:gd name="connsiteY3" fmla="*/ 2273502 h 2273502"/>
              <a:gd name="connsiteX4" fmla="*/ 958162 w 2290065"/>
              <a:gd name="connsiteY4" fmla="*/ 2273502 h 2273502"/>
              <a:gd name="connsiteX5" fmla="*/ 914268 w 2290065"/>
              <a:gd name="connsiteY5" fmla="*/ 2266803 h 2273502"/>
              <a:gd name="connsiteX6" fmla="*/ 5911 w 2290065"/>
              <a:gd name="connsiteY6" fmla="*/ 1262106 h 2273502"/>
              <a:gd name="connsiteX7" fmla="*/ 0 w 2290065"/>
              <a:gd name="connsiteY7" fmla="*/ 1145053 h 2273502"/>
              <a:gd name="connsiteX8" fmla="*/ 0 w 2290065"/>
              <a:gd name="connsiteY8" fmla="*/ 1145014 h 2273502"/>
              <a:gd name="connsiteX9" fmla="*/ 5911 w 2290065"/>
              <a:gd name="connsiteY9" fmla="*/ 1027960 h 2273502"/>
              <a:gd name="connsiteX10" fmla="*/ 1145032 w 2290065"/>
              <a:gd name="connsiteY10" fmla="*/ 0 h 227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90065" h="2273502">
                <a:moveTo>
                  <a:pt x="1145032" y="0"/>
                </a:moveTo>
                <a:cubicBezTo>
                  <a:pt x="1777417" y="0"/>
                  <a:pt x="2290065" y="512649"/>
                  <a:pt x="2290065" y="1145033"/>
                </a:cubicBezTo>
                <a:cubicBezTo>
                  <a:pt x="2290065" y="1698370"/>
                  <a:pt x="1897569" y="2160033"/>
                  <a:pt x="1375797" y="2266803"/>
                </a:cubicBezTo>
                <a:lnTo>
                  <a:pt x="1331903" y="2273502"/>
                </a:lnTo>
                <a:lnTo>
                  <a:pt x="958162" y="2273502"/>
                </a:lnTo>
                <a:lnTo>
                  <a:pt x="914268" y="2266803"/>
                </a:lnTo>
                <a:cubicBezTo>
                  <a:pt x="429765" y="2167660"/>
                  <a:pt x="56730" y="1762511"/>
                  <a:pt x="5911" y="1262106"/>
                </a:cubicBezTo>
                <a:lnTo>
                  <a:pt x="0" y="1145053"/>
                </a:lnTo>
                <a:lnTo>
                  <a:pt x="0" y="1145014"/>
                </a:lnTo>
                <a:lnTo>
                  <a:pt x="5911" y="1027960"/>
                </a:lnTo>
                <a:cubicBezTo>
                  <a:pt x="64548" y="450571"/>
                  <a:pt x="552172" y="0"/>
                  <a:pt x="1145032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1" name="圖片版面配置區 30">
            <a:extLst>
              <a:ext uri="{FF2B5EF4-FFF2-40B4-BE49-F238E27FC236}">
                <a16:creationId xmlns:a16="http://schemas.microsoft.com/office/drawing/2014/main" id="{E1E0A794-F1D3-4628-B5B1-9D48AB34C3D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07737" y="11696832"/>
            <a:ext cx="2631903" cy="6567493"/>
          </a:xfrm>
          <a:custGeom>
            <a:avLst/>
            <a:gdLst>
              <a:gd name="connsiteX0" fmla="*/ 1559647 w 3119293"/>
              <a:gd name="connsiteY0" fmla="*/ 0 h 2462810"/>
              <a:gd name="connsiteX1" fmla="*/ 3119293 w 3119293"/>
              <a:gd name="connsiteY1" fmla="*/ 1559647 h 2462810"/>
              <a:gd name="connsiteX2" fmla="*/ 2852930 w 3119293"/>
              <a:gd name="connsiteY2" fmla="*/ 2431660 h 2462810"/>
              <a:gd name="connsiteX3" fmla="*/ 2829636 w 3119293"/>
              <a:gd name="connsiteY3" fmla="*/ 2462810 h 2462810"/>
              <a:gd name="connsiteX4" fmla="*/ 289658 w 3119293"/>
              <a:gd name="connsiteY4" fmla="*/ 2462810 h 2462810"/>
              <a:gd name="connsiteX5" fmla="*/ 266363 w 3119293"/>
              <a:gd name="connsiteY5" fmla="*/ 2431660 h 2462810"/>
              <a:gd name="connsiteX6" fmla="*/ 0 w 3119293"/>
              <a:gd name="connsiteY6" fmla="*/ 1559647 h 2462810"/>
              <a:gd name="connsiteX7" fmla="*/ 1559647 w 3119293"/>
              <a:gd name="connsiteY7" fmla="*/ 0 h 246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19293" h="2462810">
                <a:moveTo>
                  <a:pt x="1559647" y="0"/>
                </a:moveTo>
                <a:cubicBezTo>
                  <a:pt x="2421016" y="0"/>
                  <a:pt x="3119293" y="698278"/>
                  <a:pt x="3119293" y="1559647"/>
                </a:cubicBezTo>
                <a:cubicBezTo>
                  <a:pt x="3119293" y="1882660"/>
                  <a:pt x="3021098" y="2182739"/>
                  <a:pt x="2852930" y="2431660"/>
                </a:cubicBezTo>
                <a:lnTo>
                  <a:pt x="2829636" y="2462810"/>
                </a:lnTo>
                <a:lnTo>
                  <a:pt x="289658" y="2462810"/>
                </a:lnTo>
                <a:lnTo>
                  <a:pt x="266363" y="2431660"/>
                </a:lnTo>
                <a:cubicBezTo>
                  <a:pt x="98195" y="2182739"/>
                  <a:pt x="0" y="1882660"/>
                  <a:pt x="0" y="1559647"/>
                </a:cubicBezTo>
                <a:cubicBezTo>
                  <a:pt x="0" y="698278"/>
                  <a:pt x="698278" y="0"/>
                  <a:pt x="1559647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0" name="圖片版面配置區 29">
            <a:extLst>
              <a:ext uri="{FF2B5EF4-FFF2-40B4-BE49-F238E27FC236}">
                <a16:creationId xmlns:a16="http://schemas.microsoft.com/office/drawing/2014/main" id="{B8D3F45B-B631-47D3-A33C-71CEC2B360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2139" y="10717285"/>
            <a:ext cx="3251948" cy="7570715"/>
          </a:xfrm>
          <a:custGeom>
            <a:avLst/>
            <a:gdLst>
              <a:gd name="connsiteX0" fmla="*/ 1927061 w 3854161"/>
              <a:gd name="connsiteY0" fmla="*/ 0 h 2839018"/>
              <a:gd name="connsiteX1" fmla="*/ 1927101 w 3854161"/>
              <a:gd name="connsiteY1" fmla="*/ 0 h 2839018"/>
              <a:gd name="connsiteX2" fmla="*/ 2124114 w 3854161"/>
              <a:gd name="connsiteY2" fmla="*/ 9948 h 2839018"/>
              <a:gd name="connsiteX3" fmla="*/ 3854161 w 3854161"/>
              <a:gd name="connsiteY3" fmla="*/ 1927080 h 2839018"/>
              <a:gd name="connsiteX4" fmla="*/ 3702722 w 3854161"/>
              <a:gd name="connsiteY4" fmla="*/ 2677187 h 2839018"/>
              <a:gd name="connsiteX5" fmla="*/ 3624763 w 3854161"/>
              <a:gd name="connsiteY5" fmla="*/ 2839018 h 2839018"/>
              <a:gd name="connsiteX6" fmla="*/ 229398 w 3854161"/>
              <a:gd name="connsiteY6" fmla="*/ 2839018 h 2839018"/>
              <a:gd name="connsiteX7" fmla="*/ 151440 w 3854161"/>
              <a:gd name="connsiteY7" fmla="*/ 2677187 h 2839018"/>
              <a:gd name="connsiteX8" fmla="*/ 0 w 3854161"/>
              <a:gd name="connsiteY8" fmla="*/ 1927080 h 2839018"/>
              <a:gd name="connsiteX9" fmla="*/ 1730048 w 3854161"/>
              <a:gd name="connsiteY9" fmla="*/ 9948 h 283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54161" h="2839018">
                <a:moveTo>
                  <a:pt x="1927061" y="0"/>
                </a:moveTo>
                <a:lnTo>
                  <a:pt x="1927101" y="0"/>
                </a:lnTo>
                <a:lnTo>
                  <a:pt x="2124114" y="9948"/>
                </a:lnTo>
                <a:cubicBezTo>
                  <a:pt x="3095856" y="108634"/>
                  <a:pt x="3854161" y="929301"/>
                  <a:pt x="3854161" y="1927080"/>
                </a:cubicBezTo>
                <a:cubicBezTo>
                  <a:pt x="3854161" y="2193154"/>
                  <a:pt x="3800237" y="2446634"/>
                  <a:pt x="3702722" y="2677187"/>
                </a:cubicBezTo>
                <a:lnTo>
                  <a:pt x="3624763" y="2839018"/>
                </a:lnTo>
                <a:lnTo>
                  <a:pt x="229398" y="2839018"/>
                </a:lnTo>
                <a:lnTo>
                  <a:pt x="151440" y="2677187"/>
                </a:lnTo>
                <a:cubicBezTo>
                  <a:pt x="53924" y="2446634"/>
                  <a:pt x="0" y="2193154"/>
                  <a:pt x="0" y="1927080"/>
                </a:cubicBezTo>
                <a:cubicBezTo>
                  <a:pt x="0" y="929301"/>
                  <a:pt x="758305" y="108634"/>
                  <a:pt x="1730048" y="9948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608" y="1560576"/>
            <a:ext cx="4451699" cy="6071616"/>
          </a:xfrm>
        </p:spPr>
        <p:txBody>
          <a:bodyPr rtlCol="0" anchor="b"/>
          <a:lstStyle>
            <a:lvl1pPr algn="r">
              <a:defRPr sz="4050" b="1" cap="all" spc="3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3004899" y="5502206"/>
            <a:ext cx="7437120" cy="308074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65194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8" name="圖形 32">
            <a:extLst>
              <a:ext uri="{FF2B5EF4-FFF2-40B4-BE49-F238E27FC236}">
                <a16:creationId xmlns:a16="http://schemas.microsoft.com/office/drawing/2014/main" id="{846CD0EA-B0AA-4845-81A5-4ADD7C58B12F}"/>
              </a:ext>
            </a:extLst>
          </p:cNvPr>
          <p:cNvSpPr/>
          <p:nvPr userDrawn="1"/>
        </p:nvSpPr>
        <p:spPr>
          <a:xfrm>
            <a:off x="1242309" y="4958759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" name="圖形 33">
            <a:extLst>
              <a:ext uri="{FF2B5EF4-FFF2-40B4-BE49-F238E27FC236}">
                <a16:creationId xmlns:a16="http://schemas.microsoft.com/office/drawing/2014/main" id="{0E97A0CB-7CB1-47F0-BD48-EEECBAC39CD2}"/>
              </a:ext>
            </a:extLst>
          </p:cNvPr>
          <p:cNvSpPr/>
          <p:nvPr userDrawn="1"/>
        </p:nvSpPr>
        <p:spPr>
          <a:xfrm>
            <a:off x="1699754" y="8391645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2" name="圖形 31">
            <a:extLst>
              <a:ext uri="{FF2B5EF4-FFF2-40B4-BE49-F238E27FC236}">
                <a16:creationId xmlns:a16="http://schemas.microsoft.com/office/drawing/2014/main" id="{477816C9-06CB-4BC5-B26B-6A2877BD941A}"/>
              </a:ext>
            </a:extLst>
          </p:cNvPr>
          <p:cNvSpPr/>
          <p:nvPr userDrawn="1"/>
        </p:nvSpPr>
        <p:spPr>
          <a:xfrm>
            <a:off x="4560401" y="12022120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4" name="直線接點​​(S)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722346" y="9341419"/>
            <a:ext cx="0" cy="892290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60608" y="8339328"/>
            <a:ext cx="4451699" cy="2999232"/>
          </a:xfrm>
        </p:spPr>
        <p:txBody>
          <a:bodyPr rtlCol="0"/>
          <a:lstStyle>
            <a:lvl1pPr marL="0" indent="0" algn="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01045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5" name="直線接點​​(S)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2" y="1219200"/>
            <a:ext cx="3317825" cy="4267200"/>
          </a:xfrm>
        </p:spPr>
        <p:txBody>
          <a:bodyPr rtlCol="0" anchor="b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預留位置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3315" y="2633135"/>
            <a:ext cx="5207794" cy="12996333"/>
          </a:xfrm>
        </p:spPr>
        <p:txBody>
          <a:bodyPr rtlCol="0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236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  <a:lvl6pPr>
              <a:defRPr sz="1688"/>
            </a:lvl6pPr>
            <a:lvl7pPr>
              <a:defRPr sz="1688"/>
            </a:lvl7pPr>
            <a:lvl8pPr>
              <a:defRPr sz="1688"/>
            </a:lvl8pPr>
            <a:lvl9pPr>
              <a:defRPr sz="1688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文字預留位置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72" y="5486400"/>
            <a:ext cx="3317825" cy="10164235"/>
          </a:xfrm>
        </p:spPr>
        <p:txBody>
          <a:bodyPr rtlCol="0"/>
          <a:lstStyle>
            <a:lvl1pPr marL="0" indent="0">
              <a:buNone/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181"/>
            </a:lvl2pPr>
            <a:lvl3pPr marL="771571" indent="0">
              <a:buNone/>
              <a:defRPr sz="1013"/>
            </a:lvl3pPr>
            <a:lvl4pPr marL="1157356" indent="0">
              <a:buNone/>
              <a:defRPr sz="844"/>
            </a:lvl4pPr>
            <a:lvl5pPr marL="1543141" indent="0">
              <a:buNone/>
              <a:defRPr sz="844"/>
            </a:lvl5pPr>
            <a:lvl6pPr marL="1928927" indent="0">
              <a:buNone/>
              <a:defRPr sz="844"/>
            </a:lvl6pPr>
            <a:lvl7pPr marL="2314712" indent="0">
              <a:buNone/>
              <a:defRPr sz="844"/>
            </a:lvl7pPr>
            <a:lvl8pPr marL="2700498" indent="0">
              <a:buNone/>
              <a:defRPr sz="844"/>
            </a:lvl8pPr>
            <a:lvl9pPr marL="3086283" indent="0">
              <a:buNone/>
              <a:defRPr sz="844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805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2" y="1219200"/>
            <a:ext cx="3317825" cy="4267200"/>
          </a:xfrm>
        </p:spPr>
        <p:txBody>
          <a:bodyPr rtlCol="0" anchor="b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圖片預留位置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73315" y="2633135"/>
            <a:ext cx="5207794" cy="12996333"/>
          </a:xfrm>
        </p:spPr>
        <p:txBody>
          <a:bodyPr rtlCol="0"/>
          <a:lstStyle>
            <a:lvl1pPr marL="0" indent="0">
              <a:buNone/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2363"/>
            </a:lvl2pPr>
            <a:lvl3pPr marL="771571" indent="0">
              <a:buNone/>
              <a:defRPr sz="2025"/>
            </a:lvl3pPr>
            <a:lvl4pPr marL="1157356" indent="0">
              <a:buNone/>
              <a:defRPr sz="1688"/>
            </a:lvl4pPr>
            <a:lvl5pPr marL="1543141" indent="0">
              <a:buNone/>
              <a:defRPr sz="1688"/>
            </a:lvl5pPr>
            <a:lvl6pPr marL="1928927" indent="0">
              <a:buNone/>
              <a:defRPr sz="1688"/>
            </a:lvl6pPr>
            <a:lvl7pPr marL="2314712" indent="0">
              <a:buNone/>
              <a:defRPr sz="1688"/>
            </a:lvl7pPr>
            <a:lvl8pPr marL="2700498" indent="0">
              <a:buNone/>
              <a:defRPr sz="1688"/>
            </a:lvl8pPr>
            <a:lvl9pPr marL="3086283" indent="0">
              <a:buNone/>
              <a:defRPr sz="1688"/>
            </a:lvl9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預留位置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72" y="5486400"/>
            <a:ext cx="3317825" cy="10164235"/>
          </a:xfrm>
        </p:spPr>
        <p:txBody>
          <a:bodyPr rtlCol="0"/>
          <a:lstStyle>
            <a:lvl1pPr marL="0" indent="0">
              <a:buNone/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181"/>
            </a:lvl2pPr>
            <a:lvl3pPr marL="771571" indent="0">
              <a:buNone/>
              <a:defRPr sz="1013"/>
            </a:lvl3pPr>
            <a:lvl4pPr marL="1157356" indent="0">
              <a:buNone/>
              <a:defRPr sz="844"/>
            </a:lvl4pPr>
            <a:lvl5pPr marL="1543141" indent="0">
              <a:buNone/>
              <a:defRPr sz="844"/>
            </a:lvl5pPr>
            <a:lvl6pPr marL="1928927" indent="0">
              <a:buNone/>
              <a:defRPr sz="844"/>
            </a:lvl6pPr>
            <a:lvl7pPr marL="2314712" indent="0">
              <a:buNone/>
              <a:defRPr sz="844"/>
            </a:lvl7pPr>
            <a:lvl8pPr marL="2700498" indent="0">
              <a:buNone/>
              <a:defRPr sz="844"/>
            </a:lvl8pPr>
            <a:lvl9pPr marL="3086283" indent="0">
              <a:buNone/>
              <a:defRPr sz="844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775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31" y="973668"/>
            <a:ext cx="8872538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預留位置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231" y="4868333"/>
            <a:ext cx="8872538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7231" y="16950268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07569" y="16950268"/>
            <a:ext cx="3471863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194" y="16950268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8" r:id="rId2"/>
    <p:sldLayoutId id="2147483717" r:id="rId3"/>
    <p:sldLayoutId id="2147483710" r:id="rId4"/>
    <p:sldLayoutId id="2147483709" r:id="rId5"/>
    <p:sldLayoutId id="2147483698" r:id="rId6"/>
    <p:sldLayoutId id="2147483713" r:id="rId7"/>
    <p:sldLayoutId id="2147483712" r:id="rId8"/>
    <p:sldLayoutId id="2147483700" r:id="rId9"/>
    <p:sldLayoutId id="2147483701" r:id="rId10"/>
    <p:sldLayoutId id="2147483716" r:id="rId11"/>
    <p:sldLayoutId id="2147483714" r:id="rId12"/>
    <p:sldLayoutId id="2147483715" r:id="rId13"/>
    <p:sldLayoutId id="2147483702" r:id="rId14"/>
    <p:sldLayoutId id="2147483703" r:id="rId15"/>
    <p:sldLayoutId id="2147483704" r:id="rId16"/>
    <p:sldLayoutId id="2147483705" r:id="rId17"/>
  </p:sldLayoutIdLst>
  <p:hf hdr="0"/>
  <p:txStyles>
    <p:titleStyle>
      <a:lvl1pPr algn="l" defTabSz="771571" rtl="0" eaLnBrk="1" latinLnBrk="0" hangingPunct="1">
        <a:lnSpc>
          <a:spcPct val="90000"/>
        </a:lnSpc>
        <a:spcBef>
          <a:spcPct val="0"/>
        </a:spcBef>
        <a:buNone/>
        <a:defRPr sz="3713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j-cs"/>
        </a:defRPr>
      </a:lvl1pPr>
    </p:titleStyle>
    <p:bodyStyle>
      <a:lvl1pPr marL="192893" indent="-192893" algn="l" defTabSz="771571" rtl="0" eaLnBrk="1" latinLnBrk="0" hangingPunct="1">
        <a:lnSpc>
          <a:spcPct val="90000"/>
        </a:lnSpc>
        <a:spcBef>
          <a:spcPts val="844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1pPr>
      <a:lvl2pPr marL="578678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2pPr>
      <a:lvl3pPr marL="964463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8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3pPr>
      <a:lvl4pPr marL="135024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4pPr>
      <a:lvl5pPr marL="1736034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5pPr>
      <a:lvl6pPr marL="212181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507605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893390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279176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1pPr>
      <a:lvl2pPr marL="385785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2pPr>
      <a:lvl3pPr marL="77157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3pPr>
      <a:lvl4pPr marL="1157356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54314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1928927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314712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700498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086283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3.xml"/><Relationship Id="rId5" Type="http://schemas.openxmlformats.org/officeDocument/2006/relationships/slide" Target="slide18.xml"/><Relationship Id="rId4" Type="http://schemas.openxmlformats.org/officeDocument/2006/relationships/slide" Target="slide2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</a:t>
            </a:r>
            <a:r>
              <a:rPr lang="zh-TW" altLang="en-US" dirty="0"/>
              <a:t>輸入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法簡介 </a:t>
            </a:r>
            <a:r>
              <a:rPr lang="en-US" altLang="zh-TW" sz="2400" dirty="0" err="1">
                <a:solidFill>
                  <a:schemeClr val="accent5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v0.1</a:t>
            </a:r>
            <a:endParaRPr lang="zh-TW" altLang="en-US" dirty="0">
              <a:solidFill>
                <a:schemeClr val="accent5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5F14073-9F68-4B7E-A576-26899D58C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CDEFA4C-2C00-3A0D-5222-7FFC29521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799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EB3598B3-2460-72D4-D7E5-981552A2CBE9}"/>
              </a:ext>
            </a:extLst>
          </p:cNvPr>
          <p:cNvSpPr txBox="1"/>
          <p:nvPr/>
        </p:nvSpPr>
        <p:spPr>
          <a:xfrm>
            <a:off x="1231106" y="8231624"/>
            <a:ext cx="78247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7200" dirty="0">
                <a:solidFill>
                  <a:schemeClr val="accent3">
                    <a:lumMod val="20000"/>
                    <a:lumOff val="80000"/>
                  </a:schemeClr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十五音輸入法簡介 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0B03982-2E3F-AE2B-364F-ADE49729AAC8}"/>
              </a:ext>
            </a:extLst>
          </p:cNvPr>
          <p:cNvSpPr txBox="1"/>
          <p:nvPr/>
        </p:nvSpPr>
        <p:spPr>
          <a:xfrm>
            <a:off x="2570843" y="15183339"/>
            <a:ext cx="51453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dirty="0">
                <a:solidFill>
                  <a:srgbClr val="FFFF00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 0.1</a:t>
            </a:r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0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1E677-309A-15E1-6359-B7FD01BD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90B4DA8-FDE8-201F-361E-84D9C0D0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漢字標音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AAAB036-A6D1-C811-22C0-BCA29211CE47}"/>
              </a:ext>
            </a:extLst>
          </p:cNvPr>
          <p:cNvSpPr txBox="1"/>
          <p:nvPr/>
        </p:nvSpPr>
        <p:spPr>
          <a:xfrm>
            <a:off x="4084446" y="7843676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58FA5F53-AB84-6D04-29CB-F3B218927BE2}"/>
              </a:ext>
            </a:extLst>
          </p:cNvPr>
          <p:cNvSpPr txBox="1"/>
          <p:nvPr/>
        </p:nvSpPr>
        <p:spPr>
          <a:xfrm>
            <a:off x="928688" y="14769465"/>
            <a:ext cx="8751887" cy="253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方音符號：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CN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ㄗ</a:t>
            </a:r>
            <a:r>
              <a:rPr lang="zh-CN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ㄜ</a:t>
            </a:r>
            <a:r>
              <a:rPr lang="zh-CN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˪</a:t>
            </a:r>
            <a:endParaRPr lang="zh-TW" altLang="en-US" sz="36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en-US" altLang="zh-TW" sz="36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ts</a:t>
            </a:r>
            <a:r>
              <a:rPr lang="zh-TW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cs typeface="Charis SIL" panose="02000500060000020004" pitchFamily="2" charset="0"/>
              </a:rPr>
              <a:t>ò</a:t>
            </a:r>
            <a:r>
              <a:rPr lang="zh-TW" altLang="en-US" sz="3600" b="1" dirty="0">
                <a:solidFill>
                  <a:srgbClr val="4D4E51"/>
                </a:solidFill>
                <a:latin typeface="Arial" panose="020B0604020202020204" pitchFamily="34" charset="0"/>
              </a:rPr>
              <a:t>（</a:t>
            </a: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sz="3600" dirty="0" err="1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ts</a:t>
            </a:r>
            <a:r>
              <a:rPr lang="en-US" altLang="zh-TW" sz="3600" dirty="0" err="1">
                <a:solidFill>
                  <a:schemeClr val="accent2"/>
                </a:solidFill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</a:t>
            </a:r>
            <a:r>
              <a:rPr lang="en-US" altLang="zh-TW" sz="36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r>
              <a:rPr lang="en-US" altLang="zh-TW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b="1" dirty="0">
                <a:solidFill>
                  <a:srgbClr val="4D4E51"/>
                </a:solidFill>
                <a:latin typeface="Arial" panose="020B0604020202020204" pitchFamily="34" charset="0"/>
              </a:rPr>
              <a:t>）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en-US" altLang="zh-TW" sz="3600" dirty="0" err="1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z</a:t>
            </a:r>
            <a:r>
              <a:rPr lang="en-US" altLang="zh-TW" sz="3600" dirty="0" err="1">
                <a:solidFill>
                  <a:schemeClr val="accent2"/>
                </a:solidFill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or</a:t>
            </a:r>
            <a:r>
              <a:rPr lang="en-US" altLang="zh-TW" sz="36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endParaRPr lang="en-US" altLang="zh-TW" sz="36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十五音反切：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F6E5F4-2F16-2BE9-1D2B-9DD8F87A327F}"/>
              </a:ext>
            </a:extLst>
          </p:cNvPr>
          <p:cNvSpPr txBox="1"/>
          <p:nvPr/>
        </p:nvSpPr>
        <p:spPr>
          <a:xfrm>
            <a:off x="5849799" y="8328031"/>
            <a:ext cx="830997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ㄗ</a:t>
            </a:r>
            <a:r>
              <a:rPr lang="zh-CN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ㄜ</a:t>
            </a:r>
            <a:endParaRPr lang="zh-TW" altLang="en-US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AE414BE-0CD8-A70D-DB23-9783ACC00679}"/>
              </a:ext>
            </a:extLst>
          </p:cNvPr>
          <p:cNvSpPr txBox="1"/>
          <p:nvPr/>
        </p:nvSpPr>
        <p:spPr>
          <a:xfrm>
            <a:off x="3918806" y="9863138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600" b="1" dirty="0" err="1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z</a:t>
            </a:r>
            <a:r>
              <a:rPr lang="en-US" altLang="zh-TW" sz="3600" b="1" dirty="0" err="1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or</a:t>
            </a:r>
            <a:r>
              <a:rPr lang="en-US" altLang="zh-TW" sz="3600" baseline="300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</a:t>
            </a:r>
            <a:endParaRPr lang="zh-TW" altLang="en-US" sz="36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7B52540-4E74-18A7-8883-C81AEE98B044}"/>
              </a:ext>
            </a:extLst>
          </p:cNvPr>
          <p:cNvSpPr txBox="1"/>
          <p:nvPr/>
        </p:nvSpPr>
        <p:spPr>
          <a:xfrm>
            <a:off x="661988" y="2970485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 ＝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9A6B4A1-546A-08C3-98FE-F99123CDB9B2}"/>
              </a:ext>
            </a:extLst>
          </p:cNvPr>
          <p:cNvSpPr txBox="1"/>
          <p:nvPr/>
        </p:nvSpPr>
        <p:spPr>
          <a:xfrm>
            <a:off x="3918806" y="7143280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600" b="1" dirty="0">
                <a:solidFill>
                  <a:schemeClr val="accent5"/>
                </a:solidFill>
                <a:latin typeface="Arial" panose="020B0604020202020204" pitchFamily="34" charset="0"/>
              </a:rPr>
              <a:t> </a:t>
            </a:r>
            <a:r>
              <a:rPr lang="en-US" altLang="zh-TW" sz="36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ts</a:t>
            </a:r>
            <a:r>
              <a:rPr lang="zh-TW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cs typeface="Charis SIL" panose="02000500060000020004" pitchFamily="2" charset="0"/>
              </a:rPr>
              <a:t>ò</a:t>
            </a:r>
            <a:r>
              <a:rPr lang="en-US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 </a:t>
            </a:r>
            <a:endParaRPr lang="zh-TW" altLang="en-US" sz="3600" b="1" dirty="0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IL" panose="02000500060000020004" pitchFamily="2" charset="0"/>
              <a:cs typeface="Charis SIL" panose="02000500060000020004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171564A-D963-48D2-4ABD-491C152439F9}"/>
              </a:ext>
            </a:extLst>
          </p:cNvPr>
          <p:cNvSpPr txBox="1"/>
          <p:nvPr/>
        </p:nvSpPr>
        <p:spPr>
          <a:xfrm>
            <a:off x="6223378" y="8795448"/>
            <a:ext cx="830997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˪ </a:t>
            </a:r>
            <a:endParaRPr lang="zh-TW" altLang="en-US" sz="36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7AAE250-B75E-0959-110B-492296173F04}"/>
              </a:ext>
            </a:extLst>
          </p:cNvPr>
          <p:cNvSpPr txBox="1"/>
          <p:nvPr/>
        </p:nvSpPr>
        <p:spPr>
          <a:xfrm>
            <a:off x="3315980" y="7940168"/>
            <a:ext cx="830997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endParaRPr lang="en-US" altLang="zh-TW" sz="3600" dirty="0">
              <a:solidFill>
                <a:schemeClr val="accent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endParaRPr lang="en-US" altLang="zh-TW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  <p:sp>
        <p:nvSpPr>
          <p:cNvPr id="6" name="圖說文字: 折線 5">
            <a:extLst>
              <a:ext uri="{FF2B5EF4-FFF2-40B4-BE49-F238E27FC236}">
                <a16:creationId xmlns:a16="http://schemas.microsoft.com/office/drawing/2014/main" id="{375B8A2B-1CF7-47EA-A074-5130CF6F8596}"/>
              </a:ext>
            </a:extLst>
          </p:cNvPr>
          <p:cNvSpPr/>
          <p:nvPr/>
        </p:nvSpPr>
        <p:spPr>
          <a:xfrm>
            <a:off x="2085975" y="4563576"/>
            <a:ext cx="6115050" cy="973665"/>
          </a:xfrm>
          <a:prstGeom prst="borderCallout2">
            <a:avLst>
              <a:gd name="adj1" fmla="val 102392"/>
              <a:gd name="adj2" fmla="val 44134"/>
              <a:gd name="adj3" fmla="val 127337"/>
              <a:gd name="adj4" fmla="val 50320"/>
              <a:gd name="adj5" fmla="val 221087"/>
              <a:gd name="adj6" fmla="val 502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台羅拼音</a:t>
            </a:r>
          </a:p>
        </p:txBody>
      </p:sp>
      <p:sp>
        <p:nvSpPr>
          <p:cNvPr id="8" name="圖說文字: 折線 7">
            <a:extLst>
              <a:ext uri="{FF2B5EF4-FFF2-40B4-BE49-F238E27FC236}">
                <a16:creationId xmlns:a16="http://schemas.microsoft.com/office/drawing/2014/main" id="{880373AA-7FDD-63D8-3F68-D7EF7BEE7A7C}"/>
              </a:ext>
            </a:extLst>
          </p:cNvPr>
          <p:cNvSpPr/>
          <p:nvPr/>
        </p:nvSpPr>
        <p:spPr>
          <a:xfrm>
            <a:off x="2085975" y="12699987"/>
            <a:ext cx="6115050" cy="973665"/>
          </a:xfrm>
          <a:prstGeom prst="borderCallout2">
            <a:avLst>
              <a:gd name="adj1" fmla="val -326"/>
              <a:gd name="adj2" fmla="val 44368"/>
              <a:gd name="adj3" fmla="val -25272"/>
              <a:gd name="adj4" fmla="val 50553"/>
              <a:gd name="adj5" fmla="val -128153"/>
              <a:gd name="adj6" fmla="val 5048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台語注音二式</a:t>
            </a:r>
          </a:p>
        </p:txBody>
      </p:sp>
      <p:sp>
        <p:nvSpPr>
          <p:cNvPr id="9" name="圖說文字: 折線 8">
            <a:extLst>
              <a:ext uri="{FF2B5EF4-FFF2-40B4-BE49-F238E27FC236}">
                <a16:creationId xmlns:a16="http://schemas.microsoft.com/office/drawing/2014/main" id="{8558CDC0-907B-87C0-C0B7-D40DF81263C4}"/>
              </a:ext>
            </a:extLst>
          </p:cNvPr>
          <p:cNvSpPr/>
          <p:nvPr/>
        </p:nvSpPr>
        <p:spPr>
          <a:xfrm>
            <a:off x="8620507" y="5772149"/>
            <a:ext cx="737807" cy="6743700"/>
          </a:xfrm>
          <a:prstGeom prst="borderCallout2">
            <a:avLst>
              <a:gd name="adj1" fmla="val 55358"/>
              <a:gd name="adj2" fmla="val -2342"/>
              <a:gd name="adj3" fmla="val 50218"/>
              <a:gd name="adj4" fmla="val -61996"/>
              <a:gd name="adj5" fmla="val 50324"/>
              <a:gd name="adj6" fmla="val -1453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方音符號</a:t>
            </a:r>
          </a:p>
        </p:txBody>
      </p:sp>
      <p:sp>
        <p:nvSpPr>
          <p:cNvPr id="11" name="圖說文字: 折線 10">
            <a:extLst>
              <a:ext uri="{FF2B5EF4-FFF2-40B4-BE49-F238E27FC236}">
                <a16:creationId xmlns:a16="http://schemas.microsoft.com/office/drawing/2014/main" id="{60A27480-03E9-6431-8520-C86DE5D90A36}"/>
              </a:ext>
            </a:extLst>
          </p:cNvPr>
          <p:cNvSpPr/>
          <p:nvPr/>
        </p:nvSpPr>
        <p:spPr>
          <a:xfrm>
            <a:off x="928688" y="5772150"/>
            <a:ext cx="737807" cy="6743700"/>
          </a:xfrm>
          <a:prstGeom prst="borderCallout2">
            <a:avLst>
              <a:gd name="adj1" fmla="val 43917"/>
              <a:gd name="adj2" fmla="val 92546"/>
              <a:gd name="adj3" fmla="val 50642"/>
              <a:gd name="adj4" fmla="val 158764"/>
              <a:gd name="adj5" fmla="val 50536"/>
              <a:gd name="adj6" fmla="val 2380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十五音反切</a:t>
            </a:r>
          </a:p>
        </p:txBody>
      </p:sp>
    </p:spTree>
    <p:extLst>
      <p:ext uri="{BB962C8B-B14F-4D97-AF65-F5344CB8AC3E}">
        <p14:creationId xmlns:p14="http://schemas.microsoft.com/office/powerpoint/2010/main" val="2712529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37B63-2671-B8D7-AF0C-531B369B8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9A7D2AC-FA09-E624-32D7-F37D8300F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十五音輸入法種類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5355AB6-4DE0-6B08-C132-6D734084CE32}"/>
              </a:ext>
            </a:extLst>
          </p:cNvPr>
          <p:cNvSpPr txBox="1"/>
          <p:nvPr/>
        </p:nvSpPr>
        <p:spPr>
          <a:xfrm>
            <a:off x="498474" y="2970485"/>
            <a:ext cx="903526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注音符號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適用；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美語自然發音字母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漢語拼音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閩拼方案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適用；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羅馬字母拼音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白話字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9865467-6719-E757-5A96-85C12E36E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235" y="6656934"/>
            <a:ext cx="5515745" cy="3486637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E4334D9-9E6A-E3CC-CA5D-2CDA14D4E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530" y="11563201"/>
            <a:ext cx="5215940" cy="6300442"/>
          </a:xfrm>
          <a:prstGeom prst="rect">
            <a:avLst/>
          </a:prstGeom>
        </p:spPr>
      </p:pic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AA8A363E-E622-DD5C-D69B-225D940E8B35}"/>
              </a:ext>
            </a:extLst>
          </p:cNvPr>
          <p:cNvSpPr/>
          <p:nvPr/>
        </p:nvSpPr>
        <p:spPr>
          <a:xfrm>
            <a:off x="2612300" y="11660300"/>
            <a:ext cx="5007700" cy="108742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圖說文字: 折線不加上框線 18">
            <a:extLst>
              <a:ext uri="{FF2B5EF4-FFF2-40B4-BE49-F238E27FC236}">
                <a16:creationId xmlns:a16="http://schemas.microsoft.com/office/drawing/2014/main" id="{C6310C60-A9B2-0439-3134-1783672A836D}"/>
              </a:ext>
            </a:extLst>
          </p:cNvPr>
          <p:cNvSpPr/>
          <p:nvPr/>
        </p:nvSpPr>
        <p:spPr>
          <a:xfrm>
            <a:off x="3451077" y="10820400"/>
            <a:ext cx="1559074" cy="592015"/>
          </a:xfrm>
          <a:prstGeom prst="callout2">
            <a:avLst>
              <a:gd name="adj1" fmla="val 55219"/>
              <a:gd name="adj2" fmla="val -1002"/>
              <a:gd name="adj3" fmla="val 56291"/>
              <a:gd name="adj4" fmla="val -16667"/>
              <a:gd name="adj5" fmla="val 131630"/>
              <a:gd name="adj6" fmla="val -20263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輸入框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A847C39E-3041-80DF-A583-AB94D740778B}"/>
              </a:ext>
            </a:extLst>
          </p:cNvPr>
          <p:cNvSpPr/>
          <p:nvPr/>
        </p:nvSpPr>
        <p:spPr>
          <a:xfrm>
            <a:off x="2612300" y="12747722"/>
            <a:ext cx="5035204" cy="5023339"/>
          </a:xfrm>
          <a:prstGeom prst="roundRect">
            <a:avLst>
              <a:gd name="adj" fmla="val 4765"/>
            </a:avLst>
          </a:prstGeom>
          <a:noFill/>
          <a:ln w="57150">
            <a:solidFill>
              <a:srgbClr val="0070C0"/>
            </a:solidFill>
            <a:prstDash val="lgDashDot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左大括弧 22">
            <a:extLst>
              <a:ext uri="{FF2B5EF4-FFF2-40B4-BE49-F238E27FC236}">
                <a16:creationId xmlns:a16="http://schemas.microsoft.com/office/drawing/2014/main" id="{749DBD7D-8F0E-6BED-C823-CE5791E9FAB5}"/>
              </a:ext>
            </a:extLst>
          </p:cNvPr>
          <p:cNvSpPr/>
          <p:nvPr/>
        </p:nvSpPr>
        <p:spPr>
          <a:xfrm>
            <a:off x="1987062" y="12747721"/>
            <a:ext cx="517358" cy="502333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9B095CDA-85B2-7BA4-D03A-4C479BA5E66D}"/>
              </a:ext>
            </a:extLst>
          </p:cNvPr>
          <p:cNvSpPr txBox="1"/>
          <p:nvPr/>
        </p:nvSpPr>
        <p:spPr>
          <a:xfrm>
            <a:off x="1264904" y="14553203"/>
            <a:ext cx="677108" cy="1733808"/>
          </a:xfrm>
          <a:prstGeom prst="rect">
            <a:avLst/>
          </a:prstGeom>
          <a:noFill/>
        </p:spPr>
        <p:txBody>
          <a:bodyPr vert="eaVert" wrap="none" rtlCol="0" anchor="ctr">
            <a:spAutoFit/>
          </a:bodyPr>
          <a:lstStyle/>
          <a:p>
            <a:r>
              <a:rPr lang="zh-TW" altLang="en-US" sz="3200" dirty="0">
                <a:solidFill>
                  <a:srgbClr val="FF0000"/>
                </a:solidFill>
              </a:rPr>
              <a:t>侯選清單</a:t>
            </a:r>
          </a:p>
        </p:txBody>
      </p:sp>
      <p:sp>
        <p:nvSpPr>
          <p:cNvPr id="25" name="圖說文字: 折線不加上框線 24">
            <a:extLst>
              <a:ext uri="{FF2B5EF4-FFF2-40B4-BE49-F238E27FC236}">
                <a16:creationId xmlns:a16="http://schemas.microsoft.com/office/drawing/2014/main" id="{5B2684BD-04ED-66DC-0F5A-B287EF3E86BD}"/>
              </a:ext>
            </a:extLst>
          </p:cNvPr>
          <p:cNvSpPr/>
          <p:nvPr/>
        </p:nvSpPr>
        <p:spPr>
          <a:xfrm>
            <a:off x="8484086" y="12919022"/>
            <a:ext cx="720874" cy="3749728"/>
          </a:xfrm>
          <a:prstGeom prst="callout2">
            <a:avLst>
              <a:gd name="adj1" fmla="val 55219"/>
              <a:gd name="adj2" fmla="val -1002"/>
              <a:gd name="adj3" fmla="val 55072"/>
              <a:gd name="adj4" fmla="val -46264"/>
              <a:gd name="adj5" fmla="val 10818"/>
              <a:gd name="adj6" fmla="val -135936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擇字聚焦</a:t>
            </a:r>
          </a:p>
        </p:txBody>
      </p:sp>
    </p:spTree>
    <p:extLst>
      <p:ext uri="{BB962C8B-B14F-4D97-AF65-F5344CB8AC3E}">
        <p14:creationId xmlns:p14="http://schemas.microsoft.com/office/powerpoint/2010/main" val="3329395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8828-7770-4403-18DF-884C8958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AE3A65A0-23C6-4050-D4DC-FF525C244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十五音輸入法特性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6E80D0-7DCF-3AE6-AE90-B7093C29A756}"/>
              </a:ext>
            </a:extLst>
          </p:cNvPr>
          <p:cNvSpPr txBox="1"/>
          <p:nvPr/>
        </p:nvSpPr>
        <p:spPr>
          <a:xfrm>
            <a:off x="498474" y="2970485"/>
            <a:ext cx="9335074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50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15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之漢字，改以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en-US" altLang="zh-TW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閩南話的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漢字標音法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多為：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順序，故鍵盤輸入，本亦應循此順序，然為遵循傳統十五音標示法，故鍵盤輸入順序改成：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endParaRPr lang="en-US" altLang="zh-TW" sz="3600" dirty="0">
              <a:solidFill>
                <a:srgbClr val="7030A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83FF2CC7-EF5F-4E35-7483-BA5F11597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688194"/>
              </p:ext>
            </p:extLst>
          </p:nvPr>
        </p:nvGraphicFramePr>
        <p:xfrm>
          <a:off x="498475" y="11913508"/>
          <a:ext cx="9211168" cy="593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4194578176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</a:t>
                      </a:r>
                      <a:r>
                        <a:rPr lang="en-US" altLang="zh-TW" sz="2400" dirty="0"/>
                        <a:t>50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（韻母）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（音調）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切音</a:t>
                      </a:r>
                      <a:r>
                        <a:rPr lang="en-US" altLang="zh-TW" sz="2400" dirty="0"/>
                        <a:t>15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（聲調）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高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三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曾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ㄜ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k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˪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3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ㄗ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台語注音二式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or</a:t>
                      </a:r>
                      <a:b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】+【 r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Z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台羅拼音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</a:t>
                      </a:r>
                      <a:br>
                        <a:rPr lang="en-US" altLang="zh-TW" sz="96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ts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t 】+【 s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10273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376376C4-8097-40ED-2B6E-C1C257598C57}"/>
              </a:ext>
            </a:extLst>
          </p:cNvPr>
          <p:cNvSpPr txBox="1"/>
          <p:nvPr/>
        </p:nvSpPr>
        <p:spPr>
          <a:xfrm>
            <a:off x="4150487" y="9700390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414C469-9A90-61C1-E894-B2B43511D880}"/>
              </a:ext>
            </a:extLst>
          </p:cNvPr>
          <p:cNvSpPr txBox="1"/>
          <p:nvPr/>
        </p:nvSpPr>
        <p:spPr>
          <a:xfrm>
            <a:off x="4341253" y="9144000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</p:spTree>
    <p:extLst>
      <p:ext uri="{BB962C8B-B14F-4D97-AF65-F5344CB8AC3E}">
        <p14:creationId xmlns:p14="http://schemas.microsoft.com/office/powerpoint/2010/main" val="20951691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4EF3A-7337-FA3A-5547-75540D161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8B7A3DCC-D270-BC95-CB18-E922B6539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十五音輸入法特性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FF6355D-D20A-0BA5-E7F0-FF9763B42778}"/>
              </a:ext>
            </a:extLst>
          </p:cNvPr>
          <p:cNvSpPr txBox="1"/>
          <p:nvPr/>
        </p:nvSpPr>
        <p:spPr>
          <a:xfrm>
            <a:off x="475963" y="4799285"/>
            <a:ext cx="9335074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使用十五音輸入法，在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輸入框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本應輸入完整之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三要素：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，故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C0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床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字，本應按鍵輸入：</a:t>
            </a:r>
            <a:r>
              <a:rPr lang="zh-TW" altLang="en-US" sz="3600" dirty="0">
                <a:solidFill>
                  <a:srgbClr val="C0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公五出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十五音輸入法允許使用者於無法確認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之時，以按鍵：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?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，輸入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不確認字符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B47A7A9-8FBA-A83F-2973-1223392A0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2650" y="8914474"/>
            <a:ext cx="6248400" cy="7444466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DD9243A-42E1-9E2C-F221-B2C4C90A3AB5}"/>
              </a:ext>
            </a:extLst>
          </p:cNvPr>
          <p:cNvSpPr txBox="1"/>
          <p:nvPr/>
        </p:nvSpPr>
        <p:spPr>
          <a:xfrm>
            <a:off x="3911557" y="292495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床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71DAE98-B290-79BC-CFE0-8A33B04E6C32}"/>
              </a:ext>
            </a:extLst>
          </p:cNvPr>
          <p:cNvSpPr txBox="1"/>
          <p:nvPr/>
        </p:nvSpPr>
        <p:spPr>
          <a:xfrm>
            <a:off x="4102323" y="236856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出</a:t>
            </a:r>
          </a:p>
        </p:txBody>
      </p:sp>
    </p:spTree>
    <p:extLst>
      <p:ext uri="{BB962C8B-B14F-4D97-AF65-F5344CB8AC3E}">
        <p14:creationId xmlns:p14="http://schemas.microsoft.com/office/powerpoint/2010/main" val="1333371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E58C-7F17-12BA-3397-4175CD68B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8760C20-0A2E-8C89-414F-496CD3988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音調略去簡化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A68203D-8F49-03AB-A5DC-605A92CE25BD}"/>
              </a:ext>
            </a:extLst>
          </p:cNvPr>
          <p:cNvSpPr txBox="1"/>
          <p:nvPr/>
        </p:nvSpPr>
        <p:spPr>
          <a:xfrm>
            <a:off x="475963" y="4799285"/>
            <a:ext cx="85918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十五音輸入法亦允許使用者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簡化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操作，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漢字標音三要素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，略去音調，僅輸入：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F0F8872-9F6A-9A7C-3CA9-6D8B4380FF4F}"/>
              </a:ext>
            </a:extLst>
          </p:cNvPr>
          <p:cNvSpPr txBox="1"/>
          <p:nvPr/>
        </p:nvSpPr>
        <p:spPr>
          <a:xfrm>
            <a:off x="3911557" y="292495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床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D179EE9-9231-702B-CB90-8EB09D056F76}"/>
              </a:ext>
            </a:extLst>
          </p:cNvPr>
          <p:cNvSpPr txBox="1"/>
          <p:nvPr/>
        </p:nvSpPr>
        <p:spPr>
          <a:xfrm>
            <a:off x="4102323" y="236856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F7A18CB-4522-7BD0-314F-38F870FC3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6861516"/>
            <a:ext cx="6477000" cy="771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509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8FA6-EBE8-129C-76FA-A2435914F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E6EB0BF-3620-749F-26A7-A64E9EF6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字母八音促聲調模糊化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8691AEE-9EC3-7DC0-5B03-ED1E23C5BA45}"/>
              </a:ext>
            </a:extLst>
          </p:cNvPr>
          <p:cNvSpPr txBox="1"/>
          <p:nvPr/>
        </p:nvSpPr>
        <p:spPr>
          <a:xfrm>
            <a:off x="356235" y="10534073"/>
            <a:ext cx="89281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十五音初學者，無法掌握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應為：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或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時，本輸入法允許使用者以按鍵：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7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，輸入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促聲調無法確認字符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代，表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促聲模糊化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操作法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9485F1B-8DC9-C95C-6ED6-DB24FE68E26C}"/>
              </a:ext>
            </a:extLst>
          </p:cNvPr>
          <p:cNvSpPr txBox="1"/>
          <p:nvPr/>
        </p:nvSpPr>
        <p:spPr>
          <a:xfrm>
            <a:off x="8829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C8D7397-5483-38B3-2350-CEA9B4666670}"/>
              </a:ext>
            </a:extLst>
          </p:cNvPr>
          <p:cNvSpPr txBox="1"/>
          <p:nvPr/>
        </p:nvSpPr>
        <p:spPr>
          <a:xfrm>
            <a:off x="10736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君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3FB8CBB-5070-8B61-A86F-AB0B91DE41C7}"/>
              </a:ext>
            </a:extLst>
          </p:cNvPr>
          <p:cNvSpPr txBox="1"/>
          <p:nvPr/>
        </p:nvSpPr>
        <p:spPr>
          <a:xfrm>
            <a:off x="67503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D5A4DF2-A072-0EDF-3D4E-AC8A51621152}"/>
              </a:ext>
            </a:extLst>
          </p:cNvPr>
          <p:cNvSpPr txBox="1"/>
          <p:nvPr/>
        </p:nvSpPr>
        <p:spPr>
          <a:xfrm>
            <a:off x="69410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EFDF1FB-FF4A-2418-FF6F-3EC0036D7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72" y="4787466"/>
            <a:ext cx="4460283" cy="531747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57A97DE-00A9-A0AE-82C8-965F04B7F0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753" y="4787466"/>
            <a:ext cx="4460283" cy="531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891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4AB6D-8C7D-93C6-7860-6696C21E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D22BC8C-9873-802C-D35F-E057ABAA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475" y="1327707"/>
            <a:ext cx="931256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字母八音輸入用舒聲調代促聲調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F95A105-D7B6-BBB8-3170-BB8B951CFFA8}"/>
              </a:ext>
            </a:extLst>
          </p:cNvPr>
          <p:cNvSpPr txBox="1"/>
          <p:nvPr/>
        </p:nvSpPr>
        <p:spPr>
          <a:xfrm>
            <a:off x="356234" y="10534073"/>
            <a:ext cx="96450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50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字，只知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；卻不記得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時，可用舒聲調之韻母，搭配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輸入按鍵：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[ 】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] 】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7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58E3270-C904-A466-4C84-1D05B7D2CAFC}"/>
              </a:ext>
            </a:extLst>
          </p:cNvPr>
          <p:cNvSpPr txBox="1"/>
          <p:nvPr/>
        </p:nvSpPr>
        <p:spPr>
          <a:xfrm>
            <a:off x="8829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713B6C0-37C2-24D0-2750-59FF3976E0C0}"/>
              </a:ext>
            </a:extLst>
          </p:cNvPr>
          <p:cNvSpPr txBox="1"/>
          <p:nvPr/>
        </p:nvSpPr>
        <p:spPr>
          <a:xfrm>
            <a:off x="10736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君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33A206-7956-FF75-004B-812A3961EB28}"/>
              </a:ext>
            </a:extLst>
          </p:cNvPr>
          <p:cNvSpPr txBox="1"/>
          <p:nvPr/>
        </p:nvSpPr>
        <p:spPr>
          <a:xfrm>
            <a:off x="67503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911D51F-7D99-9807-1305-FE42049C7B37}"/>
              </a:ext>
            </a:extLst>
          </p:cNvPr>
          <p:cNvSpPr txBox="1"/>
          <p:nvPr/>
        </p:nvSpPr>
        <p:spPr>
          <a:xfrm>
            <a:off x="69410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674F8BBB-1201-DB2C-F6AC-6018AC02A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0753" y="4787466"/>
            <a:ext cx="4460283" cy="5317472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2254031-B33A-667A-D028-D328B50A3D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72" y="4787466"/>
            <a:ext cx="4460283" cy="531747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FFB09444-D72B-8B14-73FF-F2FD783CA5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72" y="12717534"/>
            <a:ext cx="4275378" cy="525096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E2DDAB1D-9506-D5C1-4F32-BE6A6B53D8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12717534"/>
            <a:ext cx="4438650" cy="5291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36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BD0E5-79C5-2F82-CA47-C19F355B9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E335AEE4-1430-68F9-D9A3-86D34F1BA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8407938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《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彙集雅俗通十五音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》</a:t>
            </a:r>
            <a:endParaRPr lang="zh-TW" alt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B2F7F2-F45D-2866-448F-B748FA1A2FD2}"/>
              </a:ext>
            </a:extLst>
          </p:cNvPr>
          <p:cNvSpPr txBox="1"/>
          <p:nvPr/>
        </p:nvSpPr>
        <p:spPr>
          <a:xfrm>
            <a:off x="498475" y="2376269"/>
            <a:ext cx="9217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初學入門四大主題：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4BB6F02-AA7D-8BAD-7C58-3E45522CD468}"/>
              </a:ext>
            </a:extLst>
          </p:cNvPr>
          <p:cNvSpPr txBox="1"/>
          <p:nvPr/>
        </p:nvSpPr>
        <p:spPr>
          <a:xfrm>
            <a:off x="498475" y="3182723"/>
            <a:ext cx="92170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字母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 50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字（韻母）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50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字母分八音（音調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/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聲調）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切音 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15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字（聲母）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6" action="ppaction://hlinksldjump"/>
              </a:rPr>
              <a:t>呼十五音法</a:t>
            </a:r>
            <a:endParaRPr lang="zh-TW" altLang="en-US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CA7BB30-2E59-0C51-189A-10441ED7F15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316"/>
          <a:stretch>
            <a:fillRect/>
          </a:stretch>
        </p:blipFill>
        <p:spPr>
          <a:xfrm>
            <a:off x="974138" y="5651170"/>
            <a:ext cx="8265697" cy="12128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83428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73471-A215-9D77-1F5D-4D66EF2C8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6F4E95D-D102-6E97-FAD8-C89631B27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8406085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字（韻母總表）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DE0EC8F-1B16-A2EB-7255-44FFE4C58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680" y="2412762"/>
            <a:ext cx="7237639" cy="1527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90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F1BF-84F4-B437-C892-B4B31C12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0C872BB7-494C-1210-E55B-B30184728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BDEA6D1-5557-75C0-3B00-E3D3716D2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487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8EA55-7AED-8567-2507-DBB0DB81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56885B2B-FDFC-5DF1-482D-745C8F1C5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FB4D3B1-23AF-D874-7896-032E017D3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914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E6555-8706-AFCA-780F-252246639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EF777CF-70D1-997A-0D8C-D05621D68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2450219-2090-0487-7112-74C50FAC4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831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8A44F-64B3-FF79-7265-E64E3FD26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69861CF-3364-A068-6FC7-130962CEF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F27CD03-49B3-641E-0C9E-E95FB723A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418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067E-E354-B488-32D8-8D623A4E1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13EFD75-76D5-78BD-576B-6DBF2138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9AEE81E-A6FD-49E0-3A5C-1EC0A162C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4818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948BA-75D8-AA5F-6508-32AA409D7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E9AEA8E2-4B4E-6AC9-14AF-FF4D6848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18" y="2179077"/>
            <a:ext cx="8877113" cy="7939845"/>
          </a:xfrm>
          <a:prstGeom prst="rect">
            <a:avLst/>
          </a:prstGeom>
        </p:spPr>
      </p:pic>
      <p:sp>
        <p:nvSpPr>
          <p:cNvPr id="7" name="標題 6">
            <a:extLst>
              <a:ext uri="{FF2B5EF4-FFF2-40B4-BE49-F238E27FC236}">
                <a16:creationId xmlns:a16="http://schemas.microsoft.com/office/drawing/2014/main" id="{B9691ADE-383F-A959-1BAD-580E6646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8877113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字母分八音速記法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AEB23DF7-59F3-EB5D-7B89-961F5A285BEE}"/>
              </a:ext>
            </a:extLst>
          </p:cNvPr>
          <p:cNvGrpSpPr/>
          <p:nvPr/>
        </p:nvGrpSpPr>
        <p:grpSpPr>
          <a:xfrm>
            <a:off x="531318" y="10275178"/>
            <a:ext cx="8899844" cy="2485715"/>
            <a:chOff x="453284" y="7347647"/>
            <a:chExt cx="5933229" cy="165714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566658C5-9C0B-3606-6ACD-D6B79D1F2092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47D10B8E-4A77-0830-F14D-BDD580BCD7ED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5</a:t>
                </a:r>
                <a:endParaRPr lang="zh-TW" altLang="en-US" sz="2400" dirty="0"/>
              </a:p>
            </p:txBody>
          </p:sp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920E4AF-EB1F-1020-0E35-BC6AD16F20B2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4</a:t>
                </a:r>
                <a:endParaRPr lang="zh-TW" altLang="en-US" sz="24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5DF00B8C-E84E-CB5A-7417-47F11473EB83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2</a:t>
                </a:r>
                <a:endParaRPr lang="zh-TW" altLang="en-US" sz="2400" dirty="0"/>
              </a:p>
            </p:txBody>
          </p: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36F9EE9-096E-5F8B-F511-AD0AF4AD86B9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3</a:t>
                </a:r>
                <a:endParaRPr lang="zh-TW" altLang="en-US" sz="2400" dirty="0"/>
              </a:p>
            </p:txBody>
          </p:sp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B62F54A3-562C-BA92-E77C-7061A8644BCF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1</a:t>
                </a:r>
                <a:endParaRPr lang="zh-TW" altLang="en-US" sz="2400" dirty="0"/>
              </a:p>
            </p:txBody>
          </p:sp>
        </p:grpSp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25BC4770-F164-CD6C-F506-40E9ACDAAE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  <p:pic>
        <p:nvPicPr>
          <p:cNvPr id="11" name="圖片 10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C3439606-897C-C37B-DADE-47E082C84D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75" y="12993299"/>
            <a:ext cx="9182100" cy="516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9342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EEB4B-AECC-F4C6-AFF2-06C2923E9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3D26B34-8F13-7FC1-47F3-7F1CA73E5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926401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字（聲母總表）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9FCE829-A14C-41F1-0137-59BE9F275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75" y="3022600"/>
            <a:ext cx="9264010" cy="10624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181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B431B-8A54-F040-DDC0-22957762C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4D10230-CB79-169D-D61A-44A0291EC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5223224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034E897-A796-5F26-9E63-E7F6C6788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4" y="2377819"/>
            <a:ext cx="9574532" cy="1502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08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A3C98-26C2-15FC-1120-9270307F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A73AE65-BB7B-D731-0896-BE113CC2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695635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r>
              <a:rPr lang="zh-TW" altLang="en-US" dirty="0"/>
              <a:t>（發音部位）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B1417F2-815C-BE4C-47EB-801207A15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31" y="2436469"/>
            <a:ext cx="9816738" cy="127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664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BAC87-02D0-E024-4BEE-A889BB826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885A49F-AE10-2688-0701-EF300D8DF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8996772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r>
              <a:rPr lang="zh-TW" altLang="en-US" dirty="0"/>
              <a:t>（發音部位）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FDD4C65-16CD-0221-8AD4-BF761185F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537" y="2495007"/>
            <a:ext cx="9873926" cy="87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04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CB17A-1AC8-E2C2-1092-70F74B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C2FB42B1-67E1-77B1-311F-4FA53DBA6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呼十五音法（反切併音）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6CD3DC5-97BC-661B-1F43-42D7136740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66"/>
          <a:stretch/>
        </p:blipFill>
        <p:spPr>
          <a:xfrm>
            <a:off x="62547" y="2928200"/>
            <a:ext cx="10161905" cy="5623315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99808623-BCC4-DC3C-797D-47187368524D}"/>
              </a:ext>
            </a:extLst>
          </p:cNvPr>
          <p:cNvSpPr txBox="1"/>
          <p:nvPr/>
        </p:nvSpPr>
        <p:spPr>
          <a:xfrm>
            <a:off x="945106" y="9736486"/>
            <a:ext cx="927934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唸字母（韻母）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思字韻（方音符號</a:t>
            </a:r>
            <a:r>
              <a:rPr lang="en-US" altLang="zh-TW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拼音字母）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唸聲調（音調）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取八音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唸切音（聲母）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呼讀音</a:t>
            </a:r>
          </a:p>
        </p:txBody>
      </p:sp>
    </p:spTree>
    <p:extLst>
      <p:ext uri="{BB962C8B-B14F-4D97-AF65-F5344CB8AC3E}">
        <p14:creationId xmlns:p14="http://schemas.microsoft.com/office/powerpoint/2010/main" val="103765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D0BE0-F639-7B07-FB9E-DD7D3E6FD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658C148-4141-7999-1663-9397220AB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呼十五音法（反切併音）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EB7674A-6D26-8A5B-F4CC-D8690E694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62" y="3022600"/>
            <a:ext cx="9196562" cy="1325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7707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EAA2-409C-A924-3B27-F3162F74F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A9BE2B79-6BBF-8F4C-E515-3A5DBBA2A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40172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C598EBF-772C-B3AE-99DE-1AAEBCCFF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479595"/>
            <a:ext cx="9574534" cy="1448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692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1F32-5E3C-8655-FB2A-F01AA1DDC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4485D44-DD9D-AE5A-205D-AB3439BD2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6EC43F1-A24C-0103-A2AD-D0FB29043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326562"/>
            <a:ext cx="9574534" cy="146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809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43BB4-670B-7614-9A28-AEB9BD0B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3C5BCE8-4897-7E5A-D737-F8FF6095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51348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台語注音二式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E1C9DC8-6051-A5CA-1C83-D910C001C7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7"/>
          <a:stretch>
            <a:fillRect/>
          </a:stretch>
        </p:blipFill>
        <p:spPr>
          <a:xfrm>
            <a:off x="464457" y="2393595"/>
            <a:ext cx="9405256" cy="143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929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7">
            <a:extLst>
              <a:ext uri="{FF2B5EF4-FFF2-40B4-BE49-F238E27FC236}">
                <a16:creationId xmlns:a16="http://schemas.microsoft.com/office/drawing/2014/main" id="{EA79DCEA-052C-B9B7-313F-E32125EF08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sz="9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結束</a:t>
            </a:r>
          </a:p>
        </p:txBody>
      </p:sp>
      <p:sp>
        <p:nvSpPr>
          <p:cNvPr id="9" name="副標題 8">
            <a:extLst>
              <a:ext uri="{FF2B5EF4-FFF2-40B4-BE49-F238E27FC236}">
                <a16:creationId xmlns:a16="http://schemas.microsoft.com/office/drawing/2014/main" id="{F3FE30F3-B352-60DF-8C6B-FD28F7AE63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51213446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Univer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167021_TF89338750_Win32" id="{5E9B3395-FFAC-414A-B6B7-CD36791E5293}" vid="{68A61A5A-8CF9-4042-8E4C-8CB5B3ADE9C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C8E00D1-8EA3-4E42-801D-0253E1EAFC2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9919F73-B6C2-4A43-95E2-833EC48925FE}">
  <ds:schemaRefs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BC329F5-30EE-4BF7-AA2A-B837B51416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12939</TotalTime>
  <Words>1326</Words>
  <Application>Microsoft Office PowerPoint</Application>
  <PresentationFormat>自訂</PresentationFormat>
  <Paragraphs>188</Paragraphs>
  <Slides>27</Slides>
  <Notes>25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4" baseType="lpstr">
      <vt:lpstr>Microsoft JhengHei UI</vt:lpstr>
      <vt:lpstr>Noto Sans TC Black</vt:lpstr>
      <vt:lpstr>Noto Sans TC Medium</vt:lpstr>
      <vt:lpstr>Noto Serif TC Black</vt:lpstr>
      <vt:lpstr>Arial</vt:lpstr>
      <vt:lpstr>Charis SIL</vt:lpstr>
      <vt:lpstr>GradientUnivers</vt:lpstr>
      <vt:lpstr>十五音輸入法簡介 v0.1</vt:lpstr>
      <vt:lpstr>PowerPoint 簡報</vt:lpstr>
      <vt:lpstr>漢字標音</vt:lpstr>
      <vt:lpstr>十五音輸入法種類</vt:lpstr>
      <vt:lpstr>十五音輸入法特性</vt:lpstr>
      <vt:lpstr>十五音輸入法特性</vt:lpstr>
      <vt:lpstr>音調略去簡化</vt:lpstr>
      <vt:lpstr>字母八音促聲調模糊化</vt:lpstr>
      <vt:lpstr>字母八音輸入用舒聲調代促聲調</vt:lpstr>
      <vt:lpstr>《彙集雅俗通十五音》</vt:lpstr>
      <vt:lpstr>字母 50 字（韻母總表）</vt:lpstr>
      <vt:lpstr>字母 50 字（韻母）</vt:lpstr>
      <vt:lpstr>字母 50 字（韻母）</vt:lpstr>
      <vt:lpstr>字母 50 字（韻母）</vt:lpstr>
      <vt:lpstr>字母 50 字（韻母）</vt:lpstr>
      <vt:lpstr>字母 50 字（韻母）</vt:lpstr>
      <vt:lpstr>字母分八音速記法</vt:lpstr>
      <vt:lpstr>切音 15 字（聲母總表）</vt:lpstr>
      <vt:lpstr>切音 15 字（聲母）</vt:lpstr>
      <vt:lpstr>切音 15 字（聲母）（發音部位）</vt:lpstr>
      <vt:lpstr>切音 15 字（聲母）（發音部位）</vt:lpstr>
      <vt:lpstr>呼十五音法（反切併音）</vt:lpstr>
      <vt:lpstr>呼十五音法（反切併音）</vt:lpstr>
      <vt:lpstr>呼十五音法演練【方音符號】</vt:lpstr>
      <vt:lpstr>呼十五音法演練【台羅拼音】</vt:lpstr>
      <vt:lpstr>呼十五音法演練【台語注音二式】</vt:lpstr>
      <vt:lpstr>結束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120</cp:revision>
  <dcterms:created xsi:type="dcterms:W3CDTF">2025-04-24T04:27:30Z</dcterms:created>
  <dcterms:modified xsi:type="dcterms:W3CDTF">2026-08-23T13:24:59Z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